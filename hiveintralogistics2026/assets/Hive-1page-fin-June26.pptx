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9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69244-E543-4F4D-87CD-C8A17B49836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28ED7-EC5B-4E41-8D8D-59CF4A2EA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0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17FEE-82A4-F2AF-1933-3C269ED11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EF5968-32AF-6D7D-73B0-B90F1F2A2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5E176-FAF4-C570-468B-8A8DDBC85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3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105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7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23" Type="http://schemas.openxmlformats.org/officeDocument/2006/relationships/image" Target="../media/image21.png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7BF6E-35C7-462A-1C07-05914587A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1">
            <a:extLst>
              <a:ext uri="{FF2B5EF4-FFF2-40B4-BE49-F238E27FC236}">
                <a16:creationId xmlns:a16="http://schemas.microsoft.com/office/drawing/2014/main" id="{7842DC58-D826-86E8-8A9C-DDD0F77BEA98}"/>
              </a:ext>
            </a:extLst>
          </p:cNvPr>
          <p:cNvSpPr/>
          <p:nvPr/>
        </p:nvSpPr>
        <p:spPr>
          <a:xfrm>
            <a:off x="8415443" y="553930"/>
            <a:ext cx="3351072" cy="5092251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4575B1C-D9A5-07CD-A20D-9725D66E7342}"/>
              </a:ext>
            </a:extLst>
          </p:cNvPr>
          <p:cNvSpPr/>
          <p:nvPr/>
        </p:nvSpPr>
        <p:spPr>
          <a:xfrm>
            <a:off x="8520021" y="657079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36E0DA4-6898-8CD9-81FA-CE1CD834CE04}"/>
              </a:ext>
            </a:extLst>
          </p:cNvPr>
          <p:cNvSpPr/>
          <p:nvPr/>
        </p:nvSpPr>
        <p:spPr>
          <a:xfrm>
            <a:off x="8413401" y="66663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HIVE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834A2F4A-8479-77A5-516E-7C9EC11026D9}"/>
              </a:ext>
            </a:extLst>
          </p:cNvPr>
          <p:cNvSpPr/>
          <p:nvPr/>
        </p:nvSpPr>
        <p:spPr>
          <a:xfrm>
            <a:off x="8901627" y="4243103"/>
            <a:ext cx="2663360" cy="112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30% Lower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Labour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Cost from Month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RaaS 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2× end-to-end workflow speed vs AMRs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185FA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 to 50% fewer vehicles needed vs AMRs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185FA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Safety guaranteed with 90-100% Damage cases removed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185FA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0" name="BW_Forklift">
            <a:extLst>
              <a:ext uri="{FF2B5EF4-FFF2-40B4-BE49-F238E27FC236}">
                <a16:creationId xmlns:a16="http://schemas.microsoft.com/office/drawing/2014/main" id="{D49EC6B4-C82E-4EB9-075C-88E6D6092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5227" y="4765080"/>
            <a:ext cx="2721972" cy="2299597"/>
          </a:xfrm>
          <a:prstGeom prst="rect">
            <a:avLst/>
          </a:prstGeom>
        </p:spPr>
      </p:pic>
      <p:sp>
        <p:nvSpPr>
          <p:cNvPr id="900" name="bHdrMF">
            <a:extLst>
              <a:ext uri="{FF2B5EF4-FFF2-40B4-BE49-F238E27FC236}">
                <a16:creationId xmlns:a16="http://schemas.microsoft.com/office/drawing/2014/main" id="{9C3DFB25-79F7-C8D9-B7AD-DF2973AA06F9}"/>
              </a:ext>
            </a:extLst>
          </p:cNvPr>
          <p:cNvSpPr/>
          <p:nvPr/>
        </p:nvSpPr>
        <p:spPr>
          <a:xfrm>
            <a:off x="431800" y="1321200"/>
            <a:ext cx="3302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MATERIAL FLOWS IT HANDLES</a:t>
            </a:r>
          </a:p>
        </p:txBody>
      </p:sp>
      <p:pic>
        <p:nvPicPr>
          <p:cNvPr id="901" name="bmfpic0">
            <a:extLst>
              <a:ext uri="{FF2B5EF4-FFF2-40B4-BE49-F238E27FC236}">
                <a16:creationId xmlns:a16="http://schemas.microsoft.com/office/drawing/2014/main" id="{C1A5B0CD-E204-EE86-99D2-F4402EBB2B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364" b="6364"/>
          <a:stretch>
            <a:fillRect/>
          </a:stretch>
        </p:blipFill>
        <p:spPr>
          <a:xfrm>
            <a:off x="2032000" y="1663702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902" name="bmfcap0">
            <a:extLst>
              <a:ext uri="{FF2B5EF4-FFF2-40B4-BE49-F238E27FC236}">
                <a16:creationId xmlns:a16="http://schemas.microsoft.com/office/drawing/2014/main" id="{9B3F549F-AFE2-44A5-B6CE-62C2D148D52E}"/>
              </a:ext>
            </a:extLst>
          </p:cNvPr>
          <p:cNvSpPr/>
          <p:nvPr/>
        </p:nvSpPr>
        <p:spPr>
          <a:xfrm>
            <a:off x="2804812" y="1728664"/>
            <a:ext cx="605465" cy="2749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Conveyor interface</a:t>
            </a:r>
          </a:p>
        </p:txBody>
      </p:sp>
      <p:pic>
        <p:nvPicPr>
          <p:cNvPr id="903" name="bmfpic1">
            <a:extLst>
              <a:ext uri="{FF2B5EF4-FFF2-40B4-BE49-F238E27FC236}">
                <a16:creationId xmlns:a16="http://schemas.microsoft.com/office/drawing/2014/main" id="{BC807136-6EC5-E5E9-A209-B5609A7899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364" b="6364"/>
          <a:stretch>
            <a:fillRect/>
          </a:stretch>
        </p:blipFill>
        <p:spPr>
          <a:xfrm>
            <a:off x="431800" y="16776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904" name="bmfcap1">
            <a:extLst>
              <a:ext uri="{FF2B5EF4-FFF2-40B4-BE49-F238E27FC236}">
                <a16:creationId xmlns:a16="http://schemas.microsoft.com/office/drawing/2014/main" id="{E0B29832-6286-1BD7-B577-1E9159F5A872}"/>
              </a:ext>
            </a:extLst>
          </p:cNvPr>
          <p:cNvSpPr/>
          <p:nvPr/>
        </p:nvSpPr>
        <p:spPr>
          <a:xfrm>
            <a:off x="1244600" y="1817300"/>
            <a:ext cx="605465" cy="3135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End-of-line &amp; storage</a:t>
            </a:r>
          </a:p>
        </p:txBody>
      </p:sp>
      <p:pic>
        <p:nvPicPr>
          <p:cNvPr id="905" name="bmfpic2">
            <a:extLst>
              <a:ext uri="{FF2B5EF4-FFF2-40B4-BE49-F238E27FC236}">
                <a16:creationId xmlns:a16="http://schemas.microsoft.com/office/drawing/2014/main" id="{AA4FB3D7-1EBE-9776-67BA-48E5257C8F3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364" b="6364"/>
          <a:stretch>
            <a:fillRect/>
          </a:stretch>
        </p:blipFill>
        <p:spPr>
          <a:xfrm>
            <a:off x="431800" y="22110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906" name="bmfcap2">
            <a:extLst>
              <a:ext uri="{FF2B5EF4-FFF2-40B4-BE49-F238E27FC236}">
                <a16:creationId xmlns:a16="http://schemas.microsoft.com/office/drawing/2014/main" id="{1B1C4B16-8322-3953-1712-F647A06B6E13}"/>
              </a:ext>
            </a:extLst>
          </p:cNvPr>
          <p:cNvSpPr/>
          <p:nvPr/>
        </p:nvSpPr>
        <p:spPr>
          <a:xfrm>
            <a:off x="1244600" y="2350700"/>
            <a:ext cx="605465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Machine interface</a:t>
            </a:r>
          </a:p>
        </p:txBody>
      </p:sp>
      <p:pic>
        <p:nvPicPr>
          <p:cNvPr id="907" name="bmfpic3">
            <a:extLst>
              <a:ext uri="{FF2B5EF4-FFF2-40B4-BE49-F238E27FC236}">
                <a16:creationId xmlns:a16="http://schemas.microsoft.com/office/drawing/2014/main" id="{1D2C5A7E-2683-AEF0-F6E8-0E8B8F9A387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364" b="6364"/>
          <a:stretch>
            <a:fillRect/>
          </a:stretch>
        </p:blipFill>
        <p:spPr>
          <a:xfrm>
            <a:off x="431800" y="27444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908" name="bmfcap3">
            <a:extLst>
              <a:ext uri="{FF2B5EF4-FFF2-40B4-BE49-F238E27FC236}">
                <a16:creationId xmlns:a16="http://schemas.microsoft.com/office/drawing/2014/main" id="{CDA23861-B8F9-EDAF-8D1F-8484FFD32EB1}"/>
              </a:ext>
            </a:extLst>
          </p:cNvPr>
          <p:cNvSpPr/>
          <p:nvPr/>
        </p:nvSpPr>
        <p:spPr>
          <a:xfrm>
            <a:off x="1244600" y="28841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Stacking</a:t>
            </a:r>
          </a:p>
        </p:txBody>
      </p:sp>
      <p:pic>
        <p:nvPicPr>
          <p:cNvPr id="909" name="bmfpic4">
            <a:extLst>
              <a:ext uri="{FF2B5EF4-FFF2-40B4-BE49-F238E27FC236}">
                <a16:creationId xmlns:a16="http://schemas.microsoft.com/office/drawing/2014/main" id="{46BEA105-DAD8-FD5A-5E0F-1A0DD64CB17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6364" b="6364"/>
          <a:stretch>
            <a:fillRect/>
          </a:stretch>
        </p:blipFill>
        <p:spPr>
          <a:xfrm>
            <a:off x="431800" y="32778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910" name="bmfcap4">
            <a:extLst>
              <a:ext uri="{FF2B5EF4-FFF2-40B4-BE49-F238E27FC236}">
                <a16:creationId xmlns:a16="http://schemas.microsoft.com/office/drawing/2014/main" id="{1A2EB5DB-7E6B-1618-75F9-5A5E7FD9F3EE}"/>
              </a:ext>
            </a:extLst>
          </p:cNvPr>
          <p:cNvSpPr/>
          <p:nvPr/>
        </p:nvSpPr>
        <p:spPr>
          <a:xfrm>
            <a:off x="1244600" y="34175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Logistics train</a:t>
            </a:r>
          </a:p>
        </p:txBody>
      </p:sp>
      <p:pic>
        <p:nvPicPr>
          <p:cNvPr id="911" name="bmfpic5">
            <a:extLst>
              <a:ext uri="{FF2B5EF4-FFF2-40B4-BE49-F238E27FC236}">
                <a16:creationId xmlns:a16="http://schemas.microsoft.com/office/drawing/2014/main" id="{E58DB7B1-9C9B-A6CE-5CF7-0BFE7826DF0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364" b="6364"/>
          <a:stretch>
            <a:fillRect/>
          </a:stretch>
        </p:blipFill>
        <p:spPr>
          <a:xfrm>
            <a:off x="2032000" y="27444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912" name="bmfcap5">
            <a:extLst>
              <a:ext uri="{FF2B5EF4-FFF2-40B4-BE49-F238E27FC236}">
                <a16:creationId xmlns:a16="http://schemas.microsoft.com/office/drawing/2014/main" id="{A406B3FA-86F7-A200-D51D-D629F827D594}"/>
              </a:ext>
            </a:extLst>
          </p:cNvPr>
          <p:cNvSpPr/>
          <p:nvPr/>
        </p:nvSpPr>
        <p:spPr>
          <a:xfrm>
            <a:off x="2844800" y="2820600"/>
            <a:ext cx="1168400" cy="3429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 storage</a:t>
            </a:r>
          </a:p>
        </p:txBody>
      </p:sp>
      <p:pic>
        <p:nvPicPr>
          <p:cNvPr id="913" name="bmfpic6">
            <a:extLst>
              <a:ext uri="{FF2B5EF4-FFF2-40B4-BE49-F238E27FC236}">
                <a16:creationId xmlns:a16="http://schemas.microsoft.com/office/drawing/2014/main" id="{9405C608-F150-5320-402D-B33B15A193A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6364" b="6364"/>
          <a:stretch>
            <a:fillRect/>
          </a:stretch>
        </p:blipFill>
        <p:spPr>
          <a:xfrm>
            <a:off x="2032000" y="32778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914" name="bmfcap6">
            <a:extLst>
              <a:ext uri="{FF2B5EF4-FFF2-40B4-BE49-F238E27FC236}">
                <a16:creationId xmlns:a16="http://schemas.microsoft.com/office/drawing/2014/main" id="{E11814C1-E001-F1ED-7718-228D7053CED9}"/>
              </a:ext>
            </a:extLst>
          </p:cNvPr>
          <p:cNvSpPr/>
          <p:nvPr/>
        </p:nvSpPr>
        <p:spPr>
          <a:xfrm>
            <a:off x="2844800" y="3354000"/>
            <a:ext cx="1168400" cy="3429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Very high storage</a:t>
            </a:r>
          </a:p>
        </p:txBody>
      </p:sp>
      <p:sp>
        <p:nvSpPr>
          <p:cNvPr id="1100" name="bHdrRK">
            <a:extLst>
              <a:ext uri="{FF2B5EF4-FFF2-40B4-BE49-F238E27FC236}">
                <a16:creationId xmlns:a16="http://schemas.microsoft.com/office/drawing/2014/main" id="{00E42A97-4B51-D6F9-930C-8B918F603162}"/>
              </a:ext>
            </a:extLst>
          </p:cNvPr>
          <p:cNvSpPr/>
          <p:nvPr/>
        </p:nvSpPr>
        <p:spPr>
          <a:xfrm>
            <a:off x="4014432" y="1262884"/>
            <a:ext cx="3429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RACKING APPLICATIONS</a:t>
            </a:r>
          </a:p>
        </p:txBody>
      </p:sp>
      <p:pic>
        <p:nvPicPr>
          <p:cNvPr id="1101" name="brkpic0">
            <a:extLst>
              <a:ext uri="{FF2B5EF4-FFF2-40B4-BE49-F238E27FC236}">
                <a16:creationId xmlns:a16="http://schemas.microsoft.com/office/drawing/2014/main" id="{01EF3D76-6CCC-9350-9803-9AE3052DA06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4515" b="24515"/>
          <a:stretch>
            <a:fillRect/>
          </a:stretch>
        </p:blipFill>
        <p:spPr>
          <a:xfrm>
            <a:off x="7029785" y="2721666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1102" name="brkcap0">
            <a:extLst>
              <a:ext uri="{FF2B5EF4-FFF2-40B4-BE49-F238E27FC236}">
                <a16:creationId xmlns:a16="http://schemas.microsoft.com/office/drawing/2014/main" id="{396F3BF5-D4CC-367C-C341-853C54FAAD82}"/>
              </a:ext>
            </a:extLst>
          </p:cNvPr>
          <p:cNvSpPr/>
          <p:nvPr/>
        </p:nvSpPr>
        <p:spPr>
          <a:xfrm>
            <a:off x="7791706" y="2870173"/>
            <a:ext cx="437894" cy="3358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Double-deep</a:t>
            </a:r>
          </a:p>
        </p:txBody>
      </p:sp>
      <p:pic>
        <p:nvPicPr>
          <p:cNvPr id="1103" name="brkpic1">
            <a:extLst>
              <a:ext uri="{FF2B5EF4-FFF2-40B4-BE49-F238E27FC236}">
                <a16:creationId xmlns:a16="http://schemas.microsoft.com/office/drawing/2014/main" id="{C2B261DA-4DA0-91A3-D882-C09002D9E5B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319" b="4319"/>
          <a:stretch>
            <a:fillRect/>
          </a:stretch>
        </p:blipFill>
        <p:spPr>
          <a:xfrm>
            <a:off x="4064000" y="16776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1104" name="brkcap1">
            <a:extLst>
              <a:ext uri="{FF2B5EF4-FFF2-40B4-BE49-F238E27FC236}">
                <a16:creationId xmlns:a16="http://schemas.microsoft.com/office/drawing/2014/main" id="{07989AA1-800F-B41D-FA8A-2FE949222D15}"/>
              </a:ext>
            </a:extLst>
          </p:cNvPr>
          <p:cNvSpPr/>
          <p:nvPr/>
        </p:nvSpPr>
        <p:spPr>
          <a:xfrm>
            <a:off x="4876800" y="1817300"/>
            <a:ext cx="659384" cy="393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Standard (to 11m)</a:t>
            </a:r>
          </a:p>
        </p:txBody>
      </p:sp>
      <p:pic>
        <p:nvPicPr>
          <p:cNvPr id="1105" name="brkpic2">
            <a:extLst>
              <a:ext uri="{FF2B5EF4-FFF2-40B4-BE49-F238E27FC236}">
                <a16:creationId xmlns:a16="http://schemas.microsoft.com/office/drawing/2014/main" id="{BC6D45E2-27A6-7974-CAAD-EFE69BE9615A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4173" b="4173"/>
          <a:stretch>
            <a:fillRect/>
          </a:stretch>
        </p:blipFill>
        <p:spPr>
          <a:xfrm>
            <a:off x="4064000" y="22110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1106" name="brkcap2">
            <a:extLst>
              <a:ext uri="{FF2B5EF4-FFF2-40B4-BE49-F238E27FC236}">
                <a16:creationId xmlns:a16="http://schemas.microsoft.com/office/drawing/2014/main" id="{15FD3986-8754-CB7D-19E8-A6879E3C59C2}"/>
              </a:ext>
            </a:extLst>
          </p:cNvPr>
          <p:cNvSpPr/>
          <p:nvPr/>
        </p:nvSpPr>
        <p:spPr>
          <a:xfrm>
            <a:off x="4876800" y="23507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Mobile rack</a:t>
            </a:r>
          </a:p>
        </p:txBody>
      </p:sp>
      <p:pic>
        <p:nvPicPr>
          <p:cNvPr id="1107" name="brkpic3">
            <a:extLst>
              <a:ext uri="{FF2B5EF4-FFF2-40B4-BE49-F238E27FC236}">
                <a16:creationId xmlns:a16="http://schemas.microsoft.com/office/drawing/2014/main" id="{97C508A8-9992-7112-FF28-A492E6CD8D4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18962" b="18962"/>
          <a:stretch>
            <a:fillRect/>
          </a:stretch>
        </p:blipFill>
        <p:spPr>
          <a:xfrm>
            <a:off x="4064000" y="27444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1108" name="brkcap3">
            <a:extLst>
              <a:ext uri="{FF2B5EF4-FFF2-40B4-BE49-F238E27FC236}">
                <a16:creationId xmlns:a16="http://schemas.microsoft.com/office/drawing/2014/main" id="{7530A752-1A71-81FC-B621-961B47960C82}"/>
              </a:ext>
            </a:extLst>
          </p:cNvPr>
          <p:cNvSpPr/>
          <p:nvPr/>
        </p:nvSpPr>
        <p:spPr>
          <a:xfrm>
            <a:off x="4876800" y="28841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Push-back</a:t>
            </a:r>
          </a:p>
        </p:txBody>
      </p:sp>
      <p:pic>
        <p:nvPicPr>
          <p:cNvPr id="1109" name="brkpic4">
            <a:extLst>
              <a:ext uri="{FF2B5EF4-FFF2-40B4-BE49-F238E27FC236}">
                <a16:creationId xmlns:a16="http://schemas.microsoft.com/office/drawing/2014/main" id="{D92663AA-ED0A-9057-549D-D9FECB56B3BC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6787" b="26787"/>
          <a:stretch>
            <a:fillRect/>
          </a:stretch>
        </p:blipFill>
        <p:spPr>
          <a:xfrm>
            <a:off x="4064000" y="32778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1110" name="brkcap4">
            <a:extLst>
              <a:ext uri="{FF2B5EF4-FFF2-40B4-BE49-F238E27FC236}">
                <a16:creationId xmlns:a16="http://schemas.microsoft.com/office/drawing/2014/main" id="{851E5779-EACD-2955-6A0C-CB3D6F42B353}"/>
              </a:ext>
            </a:extLst>
          </p:cNvPr>
          <p:cNvSpPr/>
          <p:nvPr/>
        </p:nvSpPr>
        <p:spPr>
          <a:xfrm>
            <a:off x="4876800" y="34175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Gravity</a:t>
            </a:r>
          </a:p>
        </p:txBody>
      </p:sp>
      <p:pic>
        <p:nvPicPr>
          <p:cNvPr id="1111" name="brkpic5">
            <a:extLst>
              <a:ext uri="{FF2B5EF4-FFF2-40B4-BE49-F238E27FC236}">
                <a16:creationId xmlns:a16="http://schemas.microsoft.com/office/drawing/2014/main" id="{4638D395-51CC-59AC-FE6A-8BD8C5725373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4587" b="14587"/>
          <a:stretch>
            <a:fillRect/>
          </a:stretch>
        </p:blipFill>
        <p:spPr>
          <a:xfrm>
            <a:off x="7033586" y="3277568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1112" name="brkcap5">
            <a:extLst>
              <a:ext uri="{FF2B5EF4-FFF2-40B4-BE49-F238E27FC236}">
                <a16:creationId xmlns:a16="http://schemas.microsoft.com/office/drawing/2014/main" id="{B6962120-8B6C-68F9-B38F-27CE421CAE82}"/>
              </a:ext>
            </a:extLst>
          </p:cNvPr>
          <p:cNvSpPr/>
          <p:nvPr/>
        </p:nvSpPr>
        <p:spPr>
          <a:xfrm>
            <a:off x="7818543" y="3298633"/>
            <a:ext cx="17526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Cantilever</a:t>
            </a:r>
          </a:p>
        </p:txBody>
      </p:sp>
      <p:sp>
        <p:nvSpPr>
          <p:cNvPr id="1113" name="brkph6">
            <a:extLst>
              <a:ext uri="{FF2B5EF4-FFF2-40B4-BE49-F238E27FC236}">
                <a16:creationId xmlns:a16="http://schemas.microsoft.com/office/drawing/2014/main" id="{904A6F75-E87B-4C1D-3BDE-4F14E118A7B1}"/>
              </a:ext>
            </a:extLst>
          </p:cNvPr>
          <p:cNvSpPr/>
          <p:nvPr/>
        </p:nvSpPr>
        <p:spPr>
          <a:xfrm>
            <a:off x="5664200" y="1677600"/>
            <a:ext cx="711200" cy="482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185FA5"/>
            </a:solidFill>
          </a:ln>
        </p:spPr>
        <p:txBody>
          <a:bodyPr wrap="squar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1" u="none" strike="noStrike" kern="1200" cap="none" spc="0" normalizeH="0" baseline="0" noProof="0" dirty="0">
                <a:ln>
                  <a:noFill/>
                </a:ln>
                <a:solidFill>
                  <a:srgbClr val="6B7B8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Photo n/a</a:t>
            </a:r>
          </a:p>
        </p:txBody>
      </p:sp>
      <p:sp>
        <p:nvSpPr>
          <p:cNvPr id="1114" name="brkcap6">
            <a:extLst>
              <a:ext uri="{FF2B5EF4-FFF2-40B4-BE49-F238E27FC236}">
                <a16:creationId xmlns:a16="http://schemas.microsoft.com/office/drawing/2014/main" id="{74547DAC-BA8B-CA1F-0594-D25EE1C8DA08}"/>
              </a:ext>
            </a:extLst>
          </p:cNvPr>
          <p:cNvSpPr/>
          <p:nvPr/>
        </p:nvSpPr>
        <p:spPr>
          <a:xfrm>
            <a:off x="6477000" y="1817300"/>
            <a:ext cx="17526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 storage</a:t>
            </a:r>
          </a:p>
        </p:txBody>
      </p:sp>
      <p:sp>
        <p:nvSpPr>
          <p:cNvPr id="1115" name="brkph7">
            <a:extLst>
              <a:ext uri="{FF2B5EF4-FFF2-40B4-BE49-F238E27FC236}">
                <a16:creationId xmlns:a16="http://schemas.microsoft.com/office/drawing/2014/main" id="{8EDC25AE-1435-8522-BD5D-67073D2A86EA}"/>
              </a:ext>
            </a:extLst>
          </p:cNvPr>
          <p:cNvSpPr/>
          <p:nvPr/>
        </p:nvSpPr>
        <p:spPr>
          <a:xfrm>
            <a:off x="5664200" y="2211000"/>
            <a:ext cx="711200" cy="482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185FA5"/>
            </a:solidFill>
          </a:ln>
        </p:spPr>
        <p:txBody>
          <a:bodyPr wrap="squar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1" u="none" strike="noStrike" kern="1200" cap="none" spc="0" normalizeH="0" baseline="0" noProof="0" dirty="0">
                <a:ln>
                  <a:noFill/>
                </a:ln>
                <a:solidFill>
                  <a:srgbClr val="6B7B8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Photo n/a</a:t>
            </a:r>
          </a:p>
        </p:txBody>
      </p:sp>
      <p:sp>
        <p:nvSpPr>
          <p:cNvPr id="1116" name="brkcap7">
            <a:extLst>
              <a:ext uri="{FF2B5EF4-FFF2-40B4-BE49-F238E27FC236}">
                <a16:creationId xmlns:a16="http://schemas.microsoft.com/office/drawing/2014/main" id="{72E804E6-8401-6541-D127-1E246BE351EA}"/>
              </a:ext>
            </a:extLst>
          </p:cNvPr>
          <p:cNvSpPr/>
          <p:nvPr/>
        </p:nvSpPr>
        <p:spPr>
          <a:xfrm>
            <a:off x="6477000" y="2350700"/>
            <a:ext cx="17526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Drive-in</a:t>
            </a:r>
          </a:p>
        </p:txBody>
      </p:sp>
      <p:pic>
        <p:nvPicPr>
          <p:cNvPr id="1117" name="brkpic8">
            <a:extLst>
              <a:ext uri="{FF2B5EF4-FFF2-40B4-BE49-F238E27FC236}">
                <a16:creationId xmlns:a16="http://schemas.microsoft.com/office/drawing/2014/main" id="{9C2651B7-26C5-66E4-06FE-B7C73F65A943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32274" b="32274"/>
          <a:stretch>
            <a:fillRect/>
          </a:stretch>
        </p:blipFill>
        <p:spPr>
          <a:xfrm>
            <a:off x="5664200" y="27444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1118" name="brkcap8">
            <a:extLst>
              <a:ext uri="{FF2B5EF4-FFF2-40B4-BE49-F238E27FC236}">
                <a16:creationId xmlns:a16="http://schemas.microsoft.com/office/drawing/2014/main" id="{5F3B7A9C-CB09-2BF2-896D-1DEA7EE04CAA}"/>
              </a:ext>
            </a:extLst>
          </p:cNvPr>
          <p:cNvSpPr/>
          <p:nvPr/>
        </p:nvSpPr>
        <p:spPr>
          <a:xfrm>
            <a:off x="6477000" y="2884099"/>
            <a:ext cx="586401" cy="2765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VNA (to 12m+)</a:t>
            </a:r>
          </a:p>
        </p:txBody>
      </p:sp>
      <p:pic>
        <p:nvPicPr>
          <p:cNvPr id="1119" name="brkpic9">
            <a:extLst>
              <a:ext uri="{FF2B5EF4-FFF2-40B4-BE49-F238E27FC236}">
                <a16:creationId xmlns:a16="http://schemas.microsoft.com/office/drawing/2014/main" id="{F37F6638-8D49-6674-8C10-04DFDE29566C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prstClr val="black"/>
              <a:srgbClr val="BFC8D2"/>
            </a:duotone>
          </a:blip>
          <a:srcRect t="17562" b="17562"/>
          <a:stretch>
            <a:fillRect/>
          </a:stretch>
        </p:blipFill>
        <p:spPr>
          <a:xfrm>
            <a:off x="5664200" y="32778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1120" name="brkcap9">
            <a:extLst>
              <a:ext uri="{FF2B5EF4-FFF2-40B4-BE49-F238E27FC236}">
                <a16:creationId xmlns:a16="http://schemas.microsoft.com/office/drawing/2014/main" id="{1E1A1038-256E-72FE-460B-9E269F64F4DD}"/>
              </a:ext>
            </a:extLst>
          </p:cNvPr>
          <p:cNvSpPr/>
          <p:nvPr/>
        </p:nvSpPr>
        <p:spPr>
          <a:xfrm>
            <a:off x="6468110" y="3323284"/>
            <a:ext cx="4064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Shuttle (soon)</a:t>
            </a:r>
          </a:p>
        </p:txBody>
      </p:sp>
      <p:pic>
        <p:nvPicPr>
          <p:cNvPr id="1121" name="Copied Picture 1121" descr="/home/claude/w2/assets/logo.png">
            <a:extLst>
              <a:ext uri="{FF2B5EF4-FFF2-40B4-BE49-F238E27FC236}">
                <a16:creationId xmlns:a16="http://schemas.microsoft.com/office/drawing/2014/main" id="{34E5B82E-33ED-7567-80A4-BDDA59C4AAC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88386" y="32611"/>
            <a:ext cx="1435100" cy="317500"/>
          </a:xfrm>
          <a:prstGeom prst="rect">
            <a:avLst/>
          </a:prstGeom>
        </p:spPr>
      </p:pic>
      <p:sp>
        <p:nvSpPr>
          <p:cNvPr id="621" name="dot311">
            <a:extLst>
              <a:ext uri="{FF2B5EF4-FFF2-40B4-BE49-F238E27FC236}">
                <a16:creationId xmlns:a16="http://schemas.microsoft.com/office/drawing/2014/main" id="{E64F6567-64EB-2AF2-5949-9D169C503523}"/>
              </a:ext>
            </a:extLst>
          </p:cNvPr>
          <p:cNvSpPr/>
          <p:nvPr/>
        </p:nvSpPr>
        <p:spPr>
          <a:xfrm>
            <a:off x="1421425" y="4964064"/>
            <a:ext cx="35980" cy="36090"/>
          </a:xfrm>
          <a:prstGeom prst="ellipse">
            <a:avLst/>
          </a:prstGeom>
          <a:solidFill>
            <a:srgbClr val="0B1A2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2" name="dot312">
            <a:extLst>
              <a:ext uri="{FF2B5EF4-FFF2-40B4-BE49-F238E27FC236}">
                <a16:creationId xmlns:a16="http://schemas.microsoft.com/office/drawing/2014/main" id="{85581731-E71C-2F63-3A33-F334302B6050}"/>
              </a:ext>
            </a:extLst>
          </p:cNvPr>
          <p:cNvSpPr/>
          <p:nvPr/>
        </p:nvSpPr>
        <p:spPr>
          <a:xfrm>
            <a:off x="1631198" y="4930407"/>
            <a:ext cx="35980" cy="36090"/>
          </a:xfrm>
          <a:prstGeom prst="ellipse">
            <a:avLst/>
          </a:prstGeom>
          <a:solidFill>
            <a:srgbClr val="0B1A2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3" name="dot313">
            <a:extLst>
              <a:ext uri="{FF2B5EF4-FFF2-40B4-BE49-F238E27FC236}">
                <a16:creationId xmlns:a16="http://schemas.microsoft.com/office/drawing/2014/main" id="{EDB888E3-5A8D-676D-B0C0-305D7C2B3833}"/>
              </a:ext>
            </a:extLst>
          </p:cNvPr>
          <p:cNvSpPr/>
          <p:nvPr/>
        </p:nvSpPr>
        <p:spPr>
          <a:xfrm>
            <a:off x="2179799" y="5084378"/>
            <a:ext cx="35980" cy="36090"/>
          </a:xfrm>
          <a:prstGeom prst="ellipse">
            <a:avLst/>
          </a:prstGeom>
          <a:solidFill>
            <a:srgbClr val="0B1A2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4" name="dot315">
            <a:extLst>
              <a:ext uri="{FF2B5EF4-FFF2-40B4-BE49-F238E27FC236}">
                <a16:creationId xmlns:a16="http://schemas.microsoft.com/office/drawing/2014/main" id="{F7E08842-DEAC-D6F3-6E77-88283EE1080F}"/>
              </a:ext>
            </a:extLst>
          </p:cNvPr>
          <p:cNvSpPr/>
          <p:nvPr/>
        </p:nvSpPr>
        <p:spPr>
          <a:xfrm flipH="1">
            <a:off x="2191302" y="5878788"/>
            <a:ext cx="35980" cy="36090"/>
          </a:xfrm>
          <a:prstGeom prst="ellipse">
            <a:avLst/>
          </a:prstGeom>
          <a:solidFill>
            <a:srgbClr val="0B1A2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5" name="lbl321">
            <a:extLst>
              <a:ext uri="{FF2B5EF4-FFF2-40B4-BE49-F238E27FC236}">
                <a16:creationId xmlns:a16="http://schemas.microsoft.com/office/drawing/2014/main" id="{9569E71D-4152-EB6A-B437-BFD906AB1884}"/>
              </a:ext>
            </a:extLst>
          </p:cNvPr>
          <p:cNvSpPr txBox="1"/>
          <p:nvPr/>
        </p:nvSpPr>
        <p:spPr>
          <a:xfrm>
            <a:off x="279455" y="4611688"/>
            <a:ext cx="843282" cy="14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Lidar</a:t>
            </a:r>
          </a:p>
        </p:txBody>
      </p:sp>
      <p:sp>
        <p:nvSpPr>
          <p:cNvPr id="626" name="lbl322">
            <a:extLst>
              <a:ext uri="{FF2B5EF4-FFF2-40B4-BE49-F238E27FC236}">
                <a16:creationId xmlns:a16="http://schemas.microsoft.com/office/drawing/2014/main" id="{C6BB55B5-002B-7E6B-AA62-A6A40123DD36}"/>
              </a:ext>
            </a:extLst>
          </p:cNvPr>
          <p:cNvSpPr txBox="1"/>
          <p:nvPr/>
        </p:nvSpPr>
        <p:spPr>
          <a:xfrm>
            <a:off x="1921798" y="4911621"/>
            <a:ext cx="843282" cy="14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Camera</a:t>
            </a:r>
          </a:p>
        </p:txBody>
      </p:sp>
      <p:sp>
        <p:nvSpPr>
          <p:cNvPr id="627" name="lbl323">
            <a:extLst>
              <a:ext uri="{FF2B5EF4-FFF2-40B4-BE49-F238E27FC236}">
                <a16:creationId xmlns:a16="http://schemas.microsoft.com/office/drawing/2014/main" id="{85E61A0D-8F28-71A3-A153-E045011A943B}"/>
              </a:ext>
            </a:extLst>
          </p:cNvPr>
          <p:cNvSpPr txBox="1"/>
          <p:nvPr/>
        </p:nvSpPr>
        <p:spPr>
          <a:xfrm>
            <a:off x="2227282" y="5245044"/>
            <a:ext cx="843282" cy="14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Camera</a:t>
            </a:r>
          </a:p>
        </p:txBody>
      </p:sp>
      <p:sp>
        <p:nvSpPr>
          <p:cNvPr id="628" name="lbl324">
            <a:extLst>
              <a:ext uri="{FF2B5EF4-FFF2-40B4-BE49-F238E27FC236}">
                <a16:creationId xmlns:a16="http://schemas.microsoft.com/office/drawing/2014/main" id="{1A6CEAE6-C68B-29FC-E69B-450C564E2BBD}"/>
              </a:ext>
            </a:extLst>
          </p:cNvPr>
          <p:cNvSpPr txBox="1"/>
          <p:nvPr/>
        </p:nvSpPr>
        <p:spPr>
          <a:xfrm>
            <a:off x="-81045" y="6267576"/>
            <a:ext cx="843282" cy="14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Lidar</a:t>
            </a:r>
          </a:p>
        </p:txBody>
      </p:sp>
      <p:sp>
        <p:nvSpPr>
          <p:cNvPr id="629" name="lbl325">
            <a:extLst>
              <a:ext uri="{FF2B5EF4-FFF2-40B4-BE49-F238E27FC236}">
                <a16:creationId xmlns:a16="http://schemas.microsoft.com/office/drawing/2014/main" id="{B7AA8887-A64F-8E69-AA5F-12630572CF58}"/>
              </a:ext>
            </a:extLst>
          </p:cNvPr>
          <p:cNvSpPr txBox="1"/>
          <p:nvPr/>
        </p:nvSpPr>
        <p:spPr>
          <a:xfrm>
            <a:off x="2326573" y="6533261"/>
            <a:ext cx="877013" cy="270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Control Cabinet</a:t>
            </a:r>
          </a:p>
        </p:txBody>
      </p:sp>
      <p:sp>
        <p:nvSpPr>
          <p:cNvPr id="630" name="dot314">
            <a:extLst>
              <a:ext uri="{FF2B5EF4-FFF2-40B4-BE49-F238E27FC236}">
                <a16:creationId xmlns:a16="http://schemas.microsoft.com/office/drawing/2014/main" id="{094D1348-C571-74D2-8A79-154706736C97}"/>
              </a:ext>
            </a:extLst>
          </p:cNvPr>
          <p:cNvSpPr/>
          <p:nvPr/>
        </p:nvSpPr>
        <p:spPr>
          <a:xfrm rot="8930669">
            <a:off x="768949" y="6099503"/>
            <a:ext cx="35980" cy="36090"/>
          </a:xfrm>
          <a:prstGeom prst="ellipse">
            <a:avLst/>
          </a:prstGeom>
          <a:solidFill>
            <a:srgbClr val="0B1A2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31" name="leader301">
            <a:extLst>
              <a:ext uri="{FF2B5EF4-FFF2-40B4-BE49-F238E27FC236}">
                <a16:creationId xmlns:a16="http://schemas.microsoft.com/office/drawing/2014/main" id="{7AD8E3CB-9458-6910-8998-9A65A1213DE2}"/>
              </a:ext>
            </a:extLst>
          </p:cNvPr>
          <p:cNvCxnSpPr/>
          <p:nvPr/>
        </p:nvCxnSpPr>
        <p:spPr>
          <a:xfrm>
            <a:off x="814531" y="4684419"/>
            <a:ext cx="616411" cy="284273"/>
          </a:xfrm>
          <a:prstGeom prst="line">
            <a:avLst/>
          </a:prstGeom>
          <a:ln w="9525" cap="rnd">
            <a:solidFill>
              <a:srgbClr val="0B1A2C"/>
            </a:solidFill>
            <a:prstDash val="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632" name="leader302">
            <a:extLst>
              <a:ext uri="{FF2B5EF4-FFF2-40B4-BE49-F238E27FC236}">
                <a16:creationId xmlns:a16="http://schemas.microsoft.com/office/drawing/2014/main" id="{8BA16143-0CBF-8D10-BCB3-5383969C2D52}"/>
              </a:ext>
            </a:extLst>
          </p:cNvPr>
          <p:cNvCxnSpPr>
            <a:cxnSpLocks/>
          </p:cNvCxnSpPr>
          <p:nvPr/>
        </p:nvCxnSpPr>
        <p:spPr>
          <a:xfrm flipH="1" flipV="1">
            <a:off x="1723417" y="4928004"/>
            <a:ext cx="456382" cy="38493"/>
          </a:xfrm>
          <a:prstGeom prst="line">
            <a:avLst/>
          </a:prstGeom>
          <a:ln w="9525" cap="rnd">
            <a:solidFill>
              <a:srgbClr val="0B1A2C"/>
            </a:solidFill>
            <a:prstDash val="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633" name="leader303">
            <a:extLst>
              <a:ext uri="{FF2B5EF4-FFF2-40B4-BE49-F238E27FC236}">
                <a16:creationId xmlns:a16="http://schemas.microsoft.com/office/drawing/2014/main" id="{D3FABAF8-2299-BB70-9811-EB1E080A34E8}"/>
              </a:ext>
            </a:extLst>
          </p:cNvPr>
          <p:cNvCxnSpPr>
            <a:cxnSpLocks/>
          </p:cNvCxnSpPr>
          <p:nvPr/>
        </p:nvCxnSpPr>
        <p:spPr>
          <a:xfrm flipH="1" flipV="1">
            <a:off x="2209292" y="5093030"/>
            <a:ext cx="319282" cy="176932"/>
          </a:xfrm>
          <a:prstGeom prst="line">
            <a:avLst/>
          </a:prstGeom>
          <a:ln w="9525" cap="rnd">
            <a:solidFill>
              <a:srgbClr val="0B1A2C"/>
            </a:solidFill>
            <a:prstDash val="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634" name="leader304">
            <a:extLst>
              <a:ext uri="{FF2B5EF4-FFF2-40B4-BE49-F238E27FC236}">
                <a16:creationId xmlns:a16="http://schemas.microsoft.com/office/drawing/2014/main" id="{5B2BAEBE-2353-C022-A0D0-40E589935FFD}"/>
              </a:ext>
            </a:extLst>
          </p:cNvPr>
          <p:cNvCxnSpPr>
            <a:cxnSpLocks/>
          </p:cNvCxnSpPr>
          <p:nvPr/>
        </p:nvCxnSpPr>
        <p:spPr>
          <a:xfrm flipH="1">
            <a:off x="414202" y="6113922"/>
            <a:ext cx="372737" cy="173203"/>
          </a:xfrm>
          <a:prstGeom prst="line">
            <a:avLst/>
          </a:prstGeom>
          <a:ln w="9525" cap="rnd">
            <a:solidFill>
              <a:srgbClr val="0B1A2C"/>
            </a:solidFill>
            <a:prstDash val="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635" name="leader305">
            <a:extLst>
              <a:ext uri="{FF2B5EF4-FFF2-40B4-BE49-F238E27FC236}">
                <a16:creationId xmlns:a16="http://schemas.microsoft.com/office/drawing/2014/main" id="{3F684416-14AE-3D30-CC32-6EF7442C4476}"/>
              </a:ext>
            </a:extLst>
          </p:cNvPr>
          <p:cNvCxnSpPr/>
          <p:nvPr/>
        </p:nvCxnSpPr>
        <p:spPr>
          <a:xfrm>
            <a:off x="2215839" y="5902917"/>
            <a:ext cx="575242" cy="551901"/>
          </a:xfrm>
          <a:prstGeom prst="line">
            <a:avLst/>
          </a:prstGeom>
          <a:ln w="9525" cap="rnd">
            <a:solidFill>
              <a:srgbClr val="0B1A2C"/>
            </a:solidFill>
            <a:prstDash val="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9F92FBB-79DA-980C-6BDD-A8E0117E7923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3288" b="3288"/>
          <a:stretch>
            <a:fillRect/>
          </a:stretch>
        </p:blipFill>
        <p:spPr>
          <a:xfrm>
            <a:off x="5664200" y="16776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FE1797-05FB-4C6A-480B-5894747C6709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12807" b="12807"/>
          <a:stretch>
            <a:fillRect/>
          </a:stretch>
        </p:blipFill>
        <p:spPr>
          <a:xfrm>
            <a:off x="5664200" y="22110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825282-851D-5A3F-8050-0ADFC5D15B71}"/>
              </a:ext>
            </a:extLst>
          </p:cNvPr>
          <p:cNvSpPr/>
          <p:nvPr/>
        </p:nvSpPr>
        <p:spPr>
          <a:xfrm>
            <a:off x="8711353" y="871000"/>
            <a:ext cx="3012948" cy="350000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model, every machine</a:t>
            </a:r>
            <a:b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single AI model across the whole fleet — not a separate integration per machine type.</a:t>
            </a: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Enhancement, not replacement</a:t>
            </a:r>
            <a:b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Sensors, lidar and a control cabinet on machines you already own. Installed in days, fully reversible.</a:t>
            </a: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Human-in-the-loop by design</a:t>
            </a:r>
            <a:b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Supervision is the product, not the fallback. The edge cases that stop other AMRs become the next training set.</a:t>
            </a: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ROI from Month 1</a:t>
            </a:r>
            <a:b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upfront Capex, no change management. Operation-ready within two weeks.</a:t>
            </a: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quoteBar">
            <a:extLst>
              <a:ext uri="{FF2B5EF4-FFF2-40B4-BE49-F238E27FC236}">
                <a16:creationId xmlns:a16="http://schemas.microsoft.com/office/drawing/2014/main" id="{B0D65B22-C6F2-15CF-2600-B3CA361B476A}"/>
              </a:ext>
            </a:extLst>
          </p:cNvPr>
          <p:cNvSpPr/>
          <p:nvPr/>
        </p:nvSpPr>
        <p:spPr>
          <a:xfrm>
            <a:off x="3442935" y="4243103"/>
            <a:ext cx="38100" cy="1320800"/>
          </a:xfrm>
          <a:prstGeom prst="rect">
            <a:avLst/>
          </a:prstGeom>
          <a:solidFill>
            <a:srgbClr val="185F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partnerQuote">
            <a:extLst>
              <a:ext uri="{FF2B5EF4-FFF2-40B4-BE49-F238E27FC236}">
                <a16:creationId xmlns:a16="http://schemas.microsoft.com/office/drawing/2014/main" id="{0A62EF18-5132-E173-C64C-6E9AE36C6685}"/>
              </a:ext>
            </a:extLst>
          </p:cNvPr>
          <p:cNvSpPr txBox="1"/>
          <p:nvPr/>
        </p:nvSpPr>
        <p:spPr>
          <a:xfrm>
            <a:off x="3569158" y="4220116"/>
            <a:ext cx="3810000" cy="1320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“This is a unique addition to Toyota’s product portfolio and the first technology launch of its kind in Norway. The partnership enables the automation of a wide range of truck types, both existing and new models.”</a:t>
            </a: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— Lars Petter Bjørgen</a:t>
            </a: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A647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Director of Sales, Toyota Material Handling Norway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D0A66-23B6-9FFE-65B7-D9A7DF71A045}"/>
              </a:ext>
            </a:extLst>
          </p:cNvPr>
          <p:cNvSpPr txBox="1"/>
          <p:nvPr/>
        </p:nvSpPr>
        <p:spPr>
          <a:xfrm>
            <a:off x="3498756" y="5797813"/>
            <a:ext cx="4165600" cy="681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Live in operation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today at market-leading companies in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cold chain, grocery distribution, fish farming, waste management and industrial distribution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4B965F-E486-BE37-DFB9-56D1FDE25AB4}"/>
              </a:ext>
            </a:extLst>
          </p:cNvPr>
          <p:cNvSpPr txBox="1"/>
          <p:nvPr/>
        </p:nvSpPr>
        <p:spPr>
          <a:xfrm>
            <a:off x="951196" y="3909645"/>
            <a:ext cx="2497444" cy="301423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A6470"/>
                </a:solidFill>
                <a:effectLst/>
                <a:highlight>
                  <a:srgbClr val="C0C0C0"/>
                </a:highlight>
                <a:uLnTx/>
                <a:uFillTx/>
                <a:latin typeface="Calibri"/>
                <a:ea typeface="+mn-ea"/>
                <a:cs typeface="+mn-cs"/>
              </a:rPr>
              <a:t>Example of a </a:t>
            </a: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highlight>
                  <a:srgbClr val="C0C0C0"/>
                </a:highlight>
                <a:uLnTx/>
                <a:uFillTx/>
                <a:latin typeface="Calibri"/>
                <a:ea typeface="+mn-ea"/>
                <a:cs typeface="+mn-cs"/>
              </a:rPr>
              <a:t>Hive-enhanced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A6470"/>
                </a:solidFill>
                <a:effectLst/>
                <a:highlight>
                  <a:srgbClr val="C0C0C0"/>
                </a:highlight>
                <a:uLnTx/>
                <a:uFillTx/>
                <a:latin typeface="Calibri"/>
                <a:ea typeface="+mn-ea"/>
                <a:cs typeface="+mn-cs"/>
              </a:rPr>
              <a:t> machine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0DA8C2-A632-E74C-3938-E9C04CD3A698}"/>
              </a:ext>
            </a:extLst>
          </p:cNvPr>
          <p:cNvPicPr>
            <a:picLocks noChangeAspect="1"/>
          </p:cNvPicPr>
          <p:nvPr/>
        </p:nvPicPr>
        <p:blipFill>
          <a:blip r:embed="rId23">
            <a:duotone>
              <a:srgbClr val="2E6DB4"/>
              <a:srgbClr val="FFFFFF"/>
            </a:duotone>
          </a:blip>
          <a:srcRect l="9000" r="9000"/>
          <a:stretch>
            <a:fillRect/>
          </a:stretch>
        </p:blipFill>
        <p:spPr>
          <a:xfrm>
            <a:off x="2032000" y="2211000"/>
            <a:ext cx="711200" cy="482600"/>
          </a:xfrm>
          <a:prstGeom prst="roundRect">
            <a:avLst>
              <a:gd name="adj" fmla="val 8000"/>
            </a:avLst>
          </a:prstGeom>
          <a:ln w="9525">
            <a:solidFill>
              <a:srgbClr val="185FA5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F5F25B6-18C0-3C0B-E1F4-0A5934C0B2DE}"/>
              </a:ext>
            </a:extLst>
          </p:cNvPr>
          <p:cNvSpPr txBox="1"/>
          <p:nvPr/>
        </p:nvSpPr>
        <p:spPr>
          <a:xfrm>
            <a:off x="2711002" y="2250459"/>
            <a:ext cx="1305441" cy="37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Container loading/unloading</a:t>
            </a:r>
          </a:p>
        </p:txBody>
      </p:sp>
      <p:cxnSp>
        <p:nvCxnSpPr>
          <p:cNvPr id="22" name="dirArrow">
            <a:extLst>
              <a:ext uri="{FF2B5EF4-FFF2-40B4-BE49-F238E27FC236}">
                <a16:creationId xmlns:a16="http://schemas.microsoft.com/office/drawing/2014/main" id="{59BB6332-AA86-BF1C-516C-F2F1245B6849}"/>
              </a:ext>
            </a:extLst>
          </p:cNvPr>
          <p:cNvCxnSpPr>
            <a:cxnSpLocks/>
          </p:cNvCxnSpPr>
          <p:nvPr/>
        </p:nvCxnSpPr>
        <p:spPr>
          <a:xfrm>
            <a:off x="2197100" y="2604700"/>
            <a:ext cx="279400" cy="0"/>
          </a:xfrm>
          <a:prstGeom prst="straightConnector1">
            <a:avLst/>
          </a:prstGeom>
          <a:ln w="22225" cap="rnd">
            <a:solidFill>
              <a:srgbClr val="FF0000"/>
            </a:solidFill>
          </a:ln>
        </p:spPr>
      </p:cxnSp>
      <p:sp>
        <p:nvSpPr>
          <p:cNvPr id="11" name="quoteBar">
            <a:extLst>
              <a:ext uri="{FF2B5EF4-FFF2-40B4-BE49-F238E27FC236}">
                <a16:creationId xmlns:a16="http://schemas.microsoft.com/office/drawing/2014/main" id="{9EC6033E-9D0A-3D68-8764-C1CB24251AD8}"/>
              </a:ext>
            </a:extLst>
          </p:cNvPr>
          <p:cNvSpPr/>
          <p:nvPr/>
        </p:nvSpPr>
        <p:spPr>
          <a:xfrm>
            <a:off x="8726132" y="1003302"/>
            <a:ext cx="38100" cy="1320800"/>
          </a:xfrm>
          <a:prstGeom prst="rect">
            <a:avLst/>
          </a:prstGeom>
          <a:solidFill>
            <a:srgbClr val="185F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0" name="HeroHeadline">
            <a:extLst>
              <a:ext uri="{FF2B5EF4-FFF2-40B4-BE49-F238E27FC236}">
                <a16:creationId xmlns:a16="http://schemas.microsoft.com/office/drawing/2014/main" id="{B44B25B4-568E-0964-72BF-AFC9BB7F237E}"/>
              </a:ext>
            </a:extLst>
          </p:cNvPr>
          <p:cNvSpPr/>
          <p:nvPr/>
        </p:nvSpPr>
        <p:spPr>
          <a:xfrm>
            <a:off x="431800" y="150000"/>
            <a:ext cx="77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Your machine-agnostic Physical AI partner</a:t>
            </a: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Hive enhances the fleet you already own to make it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autonomous and self-learning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— a general-purpose physical AI, supervised by humans until it owns the edge cases.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Everyone else automates a task; Hive runs a model.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3D2CC-C435-38B5-D764-621786DAB2E1}"/>
              </a:ext>
            </a:extLst>
          </p:cNvPr>
          <p:cNvSpPr txBox="1"/>
          <p:nvPr/>
        </p:nvSpPr>
        <p:spPr>
          <a:xfrm>
            <a:off x="8752571" y="3450169"/>
            <a:ext cx="2165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Output: </a:t>
            </a:r>
          </a:p>
        </p:txBody>
      </p:sp>
      <p:sp>
        <p:nvSpPr>
          <p:cNvPr id="12" name="quoteBar">
            <a:extLst>
              <a:ext uri="{FF2B5EF4-FFF2-40B4-BE49-F238E27FC236}">
                <a16:creationId xmlns:a16="http://schemas.microsoft.com/office/drawing/2014/main" id="{FA3FAFC9-1F68-B975-A231-8D9450CF8A09}"/>
              </a:ext>
            </a:extLst>
          </p:cNvPr>
          <p:cNvSpPr/>
          <p:nvPr/>
        </p:nvSpPr>
        <p:spPr>
          <a:xfrm>
            <a:off x="8768390" y="3977498"/>
            <a:ext cx="38100" cy="1320800"/>
          </a:xfrm>
          <a:prstGeom prst="rect">
            <a:avLst/>
          </a:prstGeom>
          <a:solidFill>
            <a:srgbClr val="185F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" name="WhereOpsBox"/>
          <p:cNvSpPr/>
          <p:nvPr/>
        </p:nvSpPr>
        <p:spPr>
          <a:xfrm>
            <a:off x="8080000" y="5778483"/>
            <a:ext cx="3870000" cy="9450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0" name="WhereOpsHeading">
            <a:extLst>
              <a:ext uri="{FF2B5EF4-FFF2-40B4-BE49-F238E27FC236}">
                <a16:creationId xmlns:a16="http://schemas.microsoft.com/office/drawing/2014/main" id="{716D0B78-AE4B-A22E-1027-9E238D0643B2}"/>
              </a:ext>
            </a:extLst>
          </p:cNvPr>
          <p:cNvSpPr/>
          <p:nvPr/>
        </p:nvSpPr>
        <p:spPr>
          <a:xfrm>
            <a:off x="8431673" y="5808461"/>
            <a:ext cx="355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Hive operates — where others can’t</a:t>
            </a:r>
          </a:p>
        </p:txBody>
      </p:sp>
      <p:sp>
        <p:nvSpPr>
          <p:cNvPr id="401" name="WhereOpsColA">
            <a:extLst>
              <a:ext uri="{FF2B5EF4-FFF2-40B4-BE49-F238E27FC236}">
                <a16:creationId xmlns:a16="http://schemas.microsoft.com/office/drawing/2014/main" id="{751BF976-9B01-2F93-BBC9-0C4473C63C48}"/>
              </a:ext>
            </a:extLst>
          </p:cNvPr>
          <p:cNvSpPr/>
          <p:nvPr/>
        </p:nvSpPr>
        <p:spPr>
          <a:xfrm>
            <a:off x="8284336" y="6080569"/>
            <a:ext cx="18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Indoor &amp; outdoor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one machine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Any floor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wet, glossy, uneven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Containers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no reflectors</a:t>
            </a:r>
          </a:p>
        </p:txBody>
      </p:sp>
      <p:sp>
        <p:nvSpPr>
          <p:cNvPr id="402" name="WhereOpsColB">
            <a:extLst>
              <a:ext uri="{FF2B5EF4-FFF2-40B4-BE49-F238E27FC236}">
                <a16:creationId xmlns:a16="http://schemas.microsoft.com/office/drawing/2014/main" id="{0FEF1A51-5CE5-A2D5-84AD-4D1FFE76CF82}"/>
              </a:ext>
            </a:extLst>
          </p:cNvPr>
          <p:cNvSpPr/>
          <p:nvPr/>
        </p:nvSpPr>
        <p:spPr>
          <a:xfrm>
            <a:off x="10190000" y="6092798"/>
            <a:ext cx="176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Operating at height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3× mast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Stacking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bags, drums, totes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Cold chain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sub-zero</a:t>
            </a:r>
          </a:p>
        </p:txBody>
      </p:sp>
    </p:spTree>
    <p:extLst>
      <p:ext uri="{BB962C8B-B14F-4D97-AF65-F5344CB8AC3E}">
        <p14:creationId xmlns:p14="http://schemas.microsoft.com/office/powerpoint/2010/main" val="11902486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Macintosh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Kalinina</dc:creator>
  <cp:lastModifiedBy>Tatiana Kalinina</cp:lastModifiedBy>
  <cp:revision>1</cp:revision>
  <dcterms:created xsi:type="dcterms:W3CDTF">2026-06-12T11:10:56Z</dcterms:created>
  <dcterms:modified xsi:type="dcterms:W3CDTF">2026-06-12T11:11:18Z</dcterms:modified>
</cp:coreProperties>
</file>