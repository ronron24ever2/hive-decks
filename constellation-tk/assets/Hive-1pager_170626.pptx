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7" r:id="rId2"/>
  </p:sldIdLst>
  <p:sldSz cx="6858000" cy="13716000"/>
  <p:notesSz cx="97155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F3D48"/>
    <a:srgbClr val="E1EAED"/>
    <a:srgbClr val="CDDD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253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373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244726"/>
            <a:ext cx="5829300" cy="47752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7204076"/>
            <a:ext cx="5143500" cy="331152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1382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5123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419479"/>
            <a:ext cx="5915025" cy="570547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9178929"/>
            <a:ext cx="5915025" cy="300037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9104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651250"/>
            <a:ext cx="291465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651250"/>
            <a:ext cx="291465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730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30253"/>
            <a:ext cx="5915025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3362326"/>
            <a:ext cx="2901255" cy="164782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5010150"/>
            <a:ext cx="2901255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3362326"/>
            <a:ext cx="2915543" cy="164782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5010150"/>
            <a:ext cx="2915543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9320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054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816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914400"/>
            <a:ext cx="2211884" cy="3200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974853"/>
            <a:ext cx="3471863" cy="97472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4114800"/>
            <a:ext cx="2211884" cy="76231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3634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914400"/>
            <a:ext cx="2211884" cy="3200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974853"/>
            <a:ext cx="3471863" cy="974725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4114800"/>
            <a:ext cx="2211884" cy="76231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2881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9778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730250"/>
            <a:ext cx="1478756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730250"/>
            <a:ext cx="4350544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29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91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730253"/>
            <a:ext cx="5915025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651250"/>
            <a:ext cx="5915025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2712703"/>
            <a:ext cx="15430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2712703"/>
            <a:ext cx="2314575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2712703"/>
            <a:ext cx="15430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19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103FF33-9090-A0F5-E407-72A559C8693F}"/>
              </a:ext>
            </a:extLst>
          </p:cNvPr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2F3D48"/>
          </a:solidFill>
          <a:ln w="12700">
            <a:solidFill>
              <a:srgbClr val="2F3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7E94C4A2-E3CA-BD4B-6F39-3F905E24BC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4320" y="92974"/>
            <a:ext cx="1325880" cy="316972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FB29D354-308E-B6AE-A7F6-4023E44F8B40}"/>
              </a:ext>
            </a:extLst>
          </p:cNvPr>
          <p:cNvSpPr/>
          <p:nvPr/>
        </p:nvSpPr>
        <p:spPr>
          <a:xfrm>
            <a:off x="0" y="173736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kern="0" spc="120" dirty="0">
                <a:solidFill>
                  <a:srgbClr val="FAFAF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[INDUSTRIAL MACHINE INTELLIGENCE]</a:t>
            </a:r>
            <a:endParaRPr lang="en-US" sz="6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8D16BF6-4419-E4E8-A0FE-D4A963C46987}"/>
              </a:ext>
            </a:extLst>
          </p:cNvPr>
          <p:cNvSpPr/>
          <p:nvPr/>
        </p:nvSpPr>
        <p:spPr>
          <a:xfrm>
            <a:off x="274323" y="749808"/>
            <a:ext cx="630935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Your machine-agnostic</a:t>
            </a: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Physical AI partner.</a:t>
            </a:r>
            <a:endParaRPr lang="en-US" sz="24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F3B03A1-EF91-2715-8BB8-CEB531127C41}"/>
              </a:ext>
            </a:extLst>
          </p:cNvPr>
          <p:cNvSpPr/>
          <p:nvPr/>
        </p:nvSpPr>
        <p:spPr>
          <a:xfrm>
            <a:off x="274320" y="1726339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Hive enhances the fleet you already own to make it autonomous and self-learning — a general-purpose physical AI, supervised by humans until it owns the edge cases. Everyone else automates a task; Hive runs a model.</a:t>
            </a:r>
            <a:endParaRPr lang="en-US" sz="8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502AB763-EE0D-54DE-5E69-DB15F4AEFE3E}"/>
              </a:ext>
            </a:extLst>
          </p:cNvPr>
          <p:cNvSpPr/>
          <p:nvPr/>
        </p:nvSpPr>
        <p:spPr>
          <a:xfrm>
            <a:off x="0" y="2278593"/>
            <a:ext cx="3429000" cy="1768370"/>
          </a:xfrm>
          <a:prstGeom prst="rect">
            <a:avLst/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483B351-6A94-9610-DD92-4787A645C673}"/>
              </a:ext>
            </a:extLst>
          </p:cNvPr>
          <p:cNvSpPr/>
          <p:nvPr/>
        </p:nvSpPr>
        <p:spPr>
          <a:xfrm>
            <a:off x="274320" y="2422080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kern="0" spc="120" dirty="0">
                <a:solidFill>
                  <a:srgbClr val="2F3D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MATERIAL FLOWS</a:t>
            </a:r>
            <a:endParaRPr lang="en-US" sz="80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06B21AF8-91AE-3032-ED49-0FD95E167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804972"/>
            <a:ext cx="182880" cy="182880"/>
          </a:xfrm>
          <a:prstGeom prst="rect">
            <a:avLst/>
          </a:prstGeom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5D964F6E-1D1E-2CB6-61C5-FAE50DE41417}"/>
              </a:ext>
            </a:extLst>
          </p:cNvPr>
          <p:cNvSpPr/>
          <p:nvPr/>
        </p:nvSpPr>
        <p:spPr>
          <a:xfrm>
            <a:off x="512064" y="2814117"/>
            <a:ext cx="1303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Conveyor interface</a:t>
            </a:r>
            <a:endParaRPr lang="en-US" sz="7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0DDAABB5-CDEE-4D31-8622-178DA9331FC0}"/>
              </a:ext>
            </a:extLst>
          </p:cNvPr>
          <p:cNvSpPr/>
          <p:nvPr/>
        </p:nvSpPr>
        <p:spPr>
          <a:xfrm>
            <a:off x="2089404" y="2814117"/>
            <a:ext cx="1303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End-of-line &amp; storage</a:t>
            </a:r>
            <a:endParaRPr lang="en-US" sz="70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A91D68A1-B4F7-B1F6-0777-F83FE7B6F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033572"/>
            <a:ext cx="182880" cy="182880"/>
          </a:xfrm>
          <a:prstGeom prst="rect">
            <a:avLst/>
          </a:prstGeom>
        </p:spPr>
      </p:pic>
      <p:sp>
        <p:nvSpPr>
          <p:cNvPr id="25" name="Text 10">
            <a:extLst>
              <a:ext uri="{FF2B5EF4-FFF2-40B4-BE49-F238E27FC236}">
                <a16:creationId xmlns:a16="http://schemas.microsoft.com/office/drawing/2014/main" id="{02835AB7-32AB-0DF7-7E87-6007A81FAA5F}"/>
              </a:ext>
            </a:extLst>
          </p:cNvPr>
          <p:cNvSpPr/>
          <p:nvPr/>
        </p:nvSpPr>
        <p:spPr>
          <a:xfrm>
            <a:off x="512064" y="3042716"/>
            <a:ext cx="1303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Machine interface</a:t>
            </a:r>
            <a:endParaRPr lang="en-US" sz="700" dirty="0"/>
          </a:p>
        </p:txBody>
      </p:sp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5DBD9DA9-6050-D926-3607-3D473B04C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661" y="3033572"/>
            <a:ext cx="182880" cy="182880"/>
          </a:xfrm>
          <a:prstGeom prst="rect">
            <a:avLst/>
          </a:prstGeom>
        </p:spPr>
      </p:pic>
      <p:sp>
        <p:nvSpPr>
          <p:cNvPr id="29" name="Text 11">
            <a:extLst>
              <a:ext uri="{FF2B5EF4-FFF2-40B4-BE49-F238E27FC236}">
                <a16:creationId xmlns:a16="http://schemas.microsoft.com/office/drawing/2014/main" id="{2FEA4F01-3DDC-DC0D-9941-CB56C8D1408C}"/>
              </a:ext>
            </a:extLst>
          </p:cNvPr>
          <p:cNvSpPr/>
          <p:nvPr/>
        </p:nvSpPr>
        <p:spPr>
          <a:xfrm>
            <a:off x="2089404" y="3042716"/>
            <a:ext cx="1303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Stacking</a:t>
            </a:r>
            <a:endParaRPr lang="en-US" sz="700" dirty="0"/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8B238480-00CB-4701-C951-809D41713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262172"/>
            <a:ext cx="182880" cy="182880"/>
          </a:xfrm>
          <a:prstGeom prst="rect">
            <a:avLst/>
          </a:prstGeom>
        </p:spPr>
      </p:pic>
      <p:sp>
        <p:nvSpPr>
          <p:cNvPr id="33" name="Text 12">
            <a:extLst>
              <a:ext uri="{FF2B5EF4-FFF2-40B4-BE49-F238E27FC236}">
                <a16:creationId xmlns:a16="http://schemas.microsoft.com/office/drawing/2014/main" id="{9E399CDD-F336-E1D3-E5F2-43BCA2F184F6}"/>
              </a:ext>
            </a:extLst>
          </p:cNvPr>
          <p:cNvSpPr/>
          <p:nvPr/>
        </p:nvSpPr>
        <p:spPr>
          <a:xfrm>
            <a:off x="512064" y="3271317"/>
            <a:ext cx="1303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Logistics train</a:t>
            </a:r>
            <a:endParaRPr lang="en-US" sz="700" dirty="0"/>
          </a:p>
        </p:txBody>
      </p:sp>
      <p:pic>
        <p:nvPicPr>
          <p:cNvPr id="35" name="Image 6" descr="preencoded.png">
            <a:extLst>
              <a:ext uri="{FF2B5EF4-FFF2-40B4-BE49-F238E27FC236}">
                <a16:creationId xmlns:a16="http://schemas.microsoft.com/office/drawing/2014/main" id="{4BA4FCCC-5903-5486-2A3E-643A548359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1661" y="3262173"/>
            <a:ext cx="182880" cy="182880"/>
          </a:xfrm>
          <a:prstGeom prst="rect">
            <a:avLst/>
          </a:prstGeom>
        </p:spPr>
      </p:pic>
      <p:sp>
        <p:nvSpPr>
          <p:cNvPr id="37" name="Text 13">
            <a:extLst>
              <a:ext uri="{FF2B5EF4-FFF2-40B4-BE49-F238E27FC236}">
                <a16:creationId xmlns:a16="http://schemas.microsoft.com/office/drawing/2014/main" id="{9D983BDB-88F3-F354-2926-0DCF0D3983DA}"/>
              </a:ext>
            </a:extLst>
          </p:cNvPr>
          <p:cNvSpPr/>
          <p:nvPr/>
        </p:nvSpPr>
        <p:spPr>
          <a:xfrm>
            <a:off x="2089404" y="3271317"/>
            <a:ext cx="1303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High storage</a:t>
            </a:r>
            <a:endParaRPr lang="en-US" sz="700" dirty="0"/>
          </a:p>
        </p:txBody>
      </p:sp>
      <p:pic>
        <p:nvPicPr>
          <p:cNvPr id="39" name="Image 7" descr="preencoded.png">
            <a:extLst>
              <a:ext uri="{FF2B5EF4-FFF2-40B4-BE49-F238E27FC236}">
                <a16:creationId xmlns:a16="http://schemas.microsoft.com/office/drawing/2014/main" id="{332A8037-424F-8097-001D-E1E30C8426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490772"/>
            <a:ext cx="182880" cy="182880"/>
          </a:xfrm>
          <a:prstGeom prst="rect">
            <a:avLst/>
          </a:prstGeom>
        </p:spPr>
      </p:pic>
      <p:sp>
        <p:nvSpPr>
          <p:cNvPr id="41" name="Text 14">
            <a:extLst>
              <a:ext uri="{FF2B5EF4-FFF2-40B4-BE49-F238E27FC236}">
                <a16:creationId xmlns:a16="http://schemas.microsoft.com/office/drawing/2014/main" id="{2469DF60-4C93-9C3F-2640-D0238D673F8B}"/>
              </a:ext>
            </a:extLst>
          </p:cNvPr>
          <p:cNvSpPr/>
          <p:nvPr/>
        </p:nvSpPr>
        <p:spPr>
          <a:xfrm>
            <a:off x="512064" y="3499916"/>
            <a:ext cx="1303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Very high storage</a:t>
            </a:r>
            <a:endParaRPr lang="en-US" sz="700" dirty="0"/>
          </a:p>
        </p:txBody>
      </p:sp>
      <p:pic>
        <p:nvPicPr>
          <p:cNvPr id="43" name="Image 8" descr="preencoded.png">
            <a:extLst>
              <a:ext uri="{FF2B5EF4-FFF2-40B4-BE49-F238E27FC236}">
                <a16:creationId xmlns:a16="http://schemas.microsoft.com/office/drawing/2014/main" id="{663B6027-3F8B-1121-2A81-90859444BD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1661" y="3490772"/>
            <a:ext cx="182880" cy="182880"/>
          </a:xfrm>
          <a:prstGeom prst="rect">
            <a:avLst/>
          </a:prstGeom>
        </p:spPr>
      </p:pic>
      <p:sp>
        <p:nvSpPr>
          <p:cNvPr id="45" name="Text 15">
            <a:extLst>
              <a:ext uri="{FF2B5EF4-FFF2-40B4-BE49-F238E27FC236}">
                <a16:creationId xmlns:a16="http://schemas.microsoft.com/office/drawing/2014/main" id="{24D6E289-15F1-A0AE-7CBC-A6668282F954}"/>
              </a:ext>
            </a:extLst>
          </p:cNvPr>
          <p:cNvSpPr/>
          <p:nvPr/>
        </p:nvSpPr>
        <p:spPr>
          <a:xfrm>
            <a:off x="2089404" y="3499916"/>
            <a:ext cx="1303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Container load/unload</a:t>
            </a:r>
            <a:endParaRPr lang="en-US" sz="700" dirty="0"/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D73B42CD-E4E2-5EF2-8596-1A7466400F0F}"/>
              </a:ext>
            </a:extLst>
          </p:cNvPr>
          <p:cNvSpPr/>
          <p:nvPr/>
        </p:nvSpPr>
        <p:spPr>
          <a:xfrm>
            <a:off x="3429000" y="2278593"/>
            <a:ext cx="3429000" cy="1768370"/>
          </a:xfrm>
          <a:prstGeom prst="rect">
            <a:avLst/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199FAC8A-B163-401E-1502-EF4425935E7A}"/>
              </a:ext>
            </a:extLst>
          </p:cNvPr>
          <p:cNvSpPr/>
          <p:nvPr/>
        </p:nvSpPr>
        <p:spPr>
          <a:xfrm>
            <a:off x="3621024" y="242209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kern="0" spc="120" dirty="0">
                <a:solidFill>
                  <a:srgbClr val="2F3D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RACKING APPLICATIONS</a:t>
            </a:r>
            <a:endParaRPr lang="en-US" sz="800" dirty="0"/>
          </a:p>
        </p:txBody>
      </p:sp>
      <p:pic>
        <p:nvPicPr>
          <p:cNvPr id="51" name="Image 9" descr="preencoded.png">
            <a:extLst>
              <a:ext uri="{FF2B5EF4-FFF2-40B4-BE49-F238E27FC236}">
                <a16:creationId xmlns:a16="http://schemas.microsoft.com/office/drawing/2014/main" id="{F6447BD0-6358-BA2B-DEDC-64DCCEAD5B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1024" y="2803415"/>
            <a:ext cx="182880" cy="182880"/>
          </a:xfrm>
          <a:prstGeom prst="rect">
            <a:avLst/>
          </a:prstGeom>
        </p:spPr>
      </p:pic>
      <p:sp>
        <p:nvSpPr>
          <p:cNvPr id="53" name="Text 16">
            <a:extLst>
              <a:ext uri="{FF2B5EF4-FFF2-40B4-BE49-F238E27FC236}">
                <a16:creationId xmlns:a16="http://schemas.microsoft.com/office/drawing/2014/main" id="{9E529BD0-9AFC-7C0D-586C-229457BD47C7}"/>
              </a:ext>
            </a:extLst>
          </p:cNvPr>
          <p:cNvSpPr/>
          <p:nvPr/>
        </p:nvSpPr>
        <p:spPr>
          <a:xfrm>
            <a:off x="3858768" y="2812559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Standard (to 11m)</a:t>
            </a:r>
            <a:endParaRPr lang="en-US" sz="700" dirty="0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69DFE975-5242-B99A-F354-3FAF24471230}"/>
              </a:ext>
            </a:extLst>
          </p:cNvPr>
          <p:cNvSpPr/>
          <p:nvPr/>
        </p:nvSpPr>
        <p:spPr>
          <a:xfrm>
            <a:off x="5477257" y="2812559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Mobile rack</a:t>
            </a:r>
            <a:endParaRPr lang="en-US" sz="700" dirty="0"/>
          </a:p>
        </p:txBody>
      </p:sp>
      <p:pic>
        <p:nvPicPr>
          <p:cNvPr id="57" name="Image 11" descr="preencoded.png">
            <a:extLst>
              <a:ext uri="{FF2B5EF4-FFF2-40B4-BE49-F238E27FC236}">
                <a16:creationId xmlns:a16="http://schemas.microsoft.com/office/drawing/2014/main" id="{00FCDA61-7292-7F7E-FE42-87550083EF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1024" y="3032016"/>
            <a:ext cx="182880" cy="182880"/>
          </a:xfrm>
          <a:prstGeom prst="rect">
            <a:avLst/>
          </a:prstGeom>
        </p:spPr>
      </p:pic>
      <p:sp>
        <p:nvSpPr>
          <p:cNvPr id="59" name="Text 18">
            <a:extLst>
              <a:ext uri="{FF2B5EF4-FFF2-40B4-BE49-F238E27FC236}">
                <a16:creationId xmlns:a16="http://schemas.microsoft.com/office/drawing/2014/main" id="{C165C0E8-3B2F-ABBB-BC04-C4A15F5591E3}"/>
              </a:ext>
            </a:extLst>
          </p:cNvPr>
          <p:cNvSpPr/>
          <p:nvPr/>
        </p:nvSpPr>
        <p:spPr>
          <a:xfrm>
            <a:off x="3858768" y="3041160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Push-back</a:t>
            </a:r>
            <a:endParaRPr lang="en-US" sz="700" dirty="0"/>
          </a:p>
        </p:txBody>
      </p:sp>
      <p:sp>
        <p:nvSpPr>
          <p:cNvPr id="61" name="Text 19">
            <a:extLst>
              <a:ext uri="{FF2B5EF4-FFF2-40B4-BE49-F238E27FC236}">
                <a16:creationId xmlns:a16="http://schemas.microsoft.com/office/drawing/2014/main" id="{6925A489-13B2-3EBB-4254-F1F9EC3239E1}"/>
              </a:ext>
            </a:extLst>
          </p:cNvPr>
          <p:cNvSpPr/>
          <p:nvPr/>
        </p:nvSpPr>
        <p:spPr>
          <a:xfrm>
            <a:off x="5477257" y="3041160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Gravity</a:t>
            </a:r>
            <a:endParaRPr lang="en-US" sz="700" dirty="0"/>
          </a:p>
        </p:txBody>
      </p:sp>
      <p:pic>
        <p:nvPicPr>
          <p:cNvPr id="63" name="Image 13" descr="preencoded.png">
            <a:extLst>
              <a:ext uri="{FF2B5EF4-FFF2-40B4-BE49-F238E27FC236}">
                <a16:creationId xmlns:a16="http://schemas.microsoft.com/office/drawing/2014/main" id="{78936D49-BCEC-D1CD-8F04-A7D4F175870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21024" y="3260615"/>
            <a:ext cx="182880" cy="182880"/>
          </a:xfrm>
          <a:prstGeom prst="rect">
            <a:avLst/>
          </a:prstGeom>
        </p:spPr>
      </p:pic>
      <p:sp>
        <p:nvSpPr>
          <p:cNvPr id="65" name="Text 20">
            <a:extLst>
              <a:ext uri="{FF2B5EF4-FFF2-40B4-BE49-F238E27FC236}">
                <a16:creationId xmlns:a16="http://schemas.microsoft.com/office/drawing/2014/main" id="{53350A6C-4DB4-7A93-8D03-872DAC395734}"/>
              </a:ext>
            </a:extLst>
          </p:cNvPr>
          <p:cNvSpPr/>
          <p:nvPr/>
        </p:nvSpPr>
        <p:spPr>
          <a:xfrm>
            <a:off x="3858768" y="3269759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Cantilever</a:t>
            </a:r>
            <a:endParaRPr lang="en-US" sz="700" dirty="0"/>
          </a:p>
        </p:txBody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EF5C4A8B-20B7-2FB0-78E6-79A2018BC193}"/>
              </a:ext>
            </a:extLst>
          </p:cNvPr>
          <p:cNvSpPr/>
          <p:nvPr/>
        </p:nvSpPr>
        <p:spPr>
          <a:xfrm>
            <a:off x="5477257" y="3269759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Block storage</a:t>
            </a:r>
            <a:endParaRPr lang="en-US" sz="700" dirty="0"/>
          </a:p>
        </p:txBody>
      </p:sp>
      <p:pic>
        <p:nvPicPr>
          <p:cNvPr id="69" name="Image 15" descr="preencoded.png">
            <a:extLst>
              <a:ext uri="{FF2B5EF4-FFF2-40B4-BE49-F238E27FC236}">
                <a16:creationId xmlns:a16="http://schemas.microsoft.com/office/drawing/2014/main" id="{F3882A6E-48C3-8DA0-B066-34532D48CB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21024" y="3489216"/>
            <a:ext cx="182880" cy="182880"/>
          </a:xfrm>
          <a:prstGeom prst="rect">
            <a:avLst/>
          </a:prstGeom>
        </p:spPr>
      </p:pic>
      <p:sp>
        <p:nvSpPr>
          <p:cNvPr id="71" name="Text 22">
            <a:extLst>
              <a:ext uri="{FF2B5EF4-FFF2-40B4-BE49-F238E27FC236}">
                <a16:creationId xmlns:a16="http://schemas.microsoft.com/office/drawing/2014/main" id="{1A2B3C18-19DA-1DCE-1736-20F31F5DC4CE}"/>
              </a:ext>
            </a:extLst>
          </p:cNvPr>
          <p:cNvSpPr/>
          <p:nvPr/>
        </p:nvSpPr>
        <p:spPr>
          <a:xfrm>
            <a:off x="3858768" y="3498360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Drive-in</a:t>
            </a:r>
            <a:endParaRPr lang="en-US" sz="700" dirty="0"/>
          </a:p>
        </p:txBody>
      </p:sp>
      <p:pic>
        <p:nvPicPr>
          <p:cNvPr id="73" name="Image 16" descr="preencoded.png">
            <a:extLst>
              <a:ext uri="{FF2B5EF4-FFF2-40B4-BE49-F238E27FC236}">
                <a16:creationId xmlns:a16="http://schemas.microsoft.com/office/drawing/2014/main" id="{5E6BADAA-F553-996C-5DF3-72C1EE22F7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9512" y="3489216"/>
            <a:ext cx="182880" cy="182880"/>
          </a:xfrm>
          <a:prstGeom prst="rect">
            <a:avLst/>
          </a:prstGeom>
        </p:spPr>
      </p:pic>
      <p:sp>
        <p:nvSpPr>
          <p:cNvPr id="75" name="Text 23">
            <a:extLst>
              <a:ext uri="{FF2B5EF4-FFF2-40B4-BE49-F238E27FC236}">
                <a16:creationId xmlns:a16="http://schemas.microsoft.com/office/drawing/2014/main" id="{0A451EE9-9137-7DE9-6948-DCD346433CA9}"/>
              </a:ext>
            </a:extLst>
          </p:cNvPr>
          <p:cNvSpPr/>
          <p:nvPr/>
        </p:nvSpPr>
        <p:spPr>
          <a:xfrm>
            <a:off x="5477257" y="3498360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VNA (to 12m+)</a:t>
            </a:r>
            <a:endParaRPr lang="en-US" sz="700" dirty="0"/>
          </a:p>
        </p:txBody>
      </p:sp>
      <p:pic>
        <p:nvPicPr>
          <p:cNvPr id="77" name="Image 17" descr="preencoded.png">
            <a:extLst>
              <a:ext uri="{FF2B5EF4-FFF2-40B4-BE49-F238E27FC236}">
                <a16:creationId xmlns:a16="http://schemas.microsoft.com/office/drawing/2014/main" id="{8626389F-8C89-23C9-7E36-BAA27362A4A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21024" y="3717815"/>
            <a:ext cx="182880" cy="182880"/>
          </a:xfrm>
          <a:prstGeom prst="rect">
            <a:avLst/>
          </a:prstGeom>
        </p:spPr>
      </p:pic>
      <p:sp>
        <p:nvSpPr>
          <p:cNvPr id="79" name="Text 24">
            <a:extLst>
              <a:ext uri="{FF2B5EF4-FFF2-40B4-BE49-F238E27FC236}">
                <a16:creationId xmlns:a16="http://schemas.microsoft.com/office/drawing/2014/main" id="{44600A9E-A6E9-48BE-AE06-F8A2144CE25E}"/>
              </a:ext>
            </a:extLst>
          </p:cNvPr>
          <p:cNvSpPr/>
          <p:nvPr/>
        </p:nvSpPr>
        <p:spPr>
          <a:xfrm>
            <a:off x="3858768" y="3726959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Double-deep</a:t>
            </a:r>
            <a:endParaRPr lang="en-US" sz="700" dirty="0"/>
          </a:p>
        </p:txBody>
      </p:sp>
      <p:pic>
        <p:nvPicPr>
          <p:cNvPr id="81" name="Image 18" descr="preencoded.png">
            <a:extLst>
              <a:ext uri="{FF2B5EF4-FFF2-40B4-BE49-F238E27FC236}">
                <a16:creationId xmlns:a16="http://schemas.microsoft.com/office/drawing/2014/main" id="{B0256284-9AE5-490D-153E-5FA8F562153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39512" y="3717815"/>
            <a:ext cx="182880" cy="182880"/>
          </a:xfrm>
          <a:prstGeom prst="rect">
            <a:avLst/>
          </a:prstGeom>
        </p:spPr>
      </p:pic>
      <p:sp>
        <p:nvSpPr>
          <p:cNvPr id="83" name="Text 25">
            <a:extLst>
              <a:ext uri="{FF2B5EF4-FFF2-40B4-BE49-F238E27FC236}">
                <a16:creationId xmlns:a16="http://schemas.microsoft.com/office/drawing/2014/main" id="{6A2D49D8-4F28-C9C6-F713-A54380F9A4EA}"/>
              </a:ext>
            </a:extLst>
          </p:cNvPr>
          <p:cNvSpPr/>
          <p:nvPr/>
        </p:nvSpPr>
        <p:spPr>
          <a:xfrm>
            <a:off x="5477257" y="3726959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Shuttle (soon)</a:t>
            </a:r>
            <a:endParaRPr lang="en-US" sz="700" dirty="0"/>
          </a:p>
        </p:txBody>
      </p:sp>
      <p:pic>
        <p:nvPicPr>
          <p:cNvPr id="85" name="Image 10" descr="preencoded.png">
            <a:extLst>
              <a:ext uri="{FF2B5EF4-FFF2-40B4-BE49-F238E27FC236}">
                <a16:creationId xmlns:a16="http://schemas.microsoft.com/office/drawing/2014/main" id="{06B012B9-4EC8-1494-7F44-EE73CB37020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39512" y="2803415"/>
            <a:ext cx="182880" cy="182880"/>
          </a:xfrm>
          <a:prstGeom prst="rect">
            <a:avLst/>
          </a:prstGeom>
        </p:spPr>
      </p:pic>
      <p:pic>
        <p:nvPicPr>
          <p:cNvPr id="87" name="Image 12" descr="preencoded.png">
            <a:extLst>
              <a:ext uri="{FF2B5EF4-FFF2-40B4-BE49-F238E27FC236}">
                <a16:creationId xmlns:a16="http://schemas.microsoft.com/office/drawing/2014/main" id="{0312D687-965A-A03F-8534-7B2F3D1E068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39512" y="3032016"/>
            <a:ext cx="182880" cy="182880"/>
          </a:xfrm>
          <a:prstGeom prst="rect">
            <a:avLst/>
          </a:prstGeom>
        </p:spPr>
      </p:pic>
      <p:pic>
        <p:nvPicPr>
          <p:cNvPr id="89" name="Image 14" descr="preencoded.png">
            <a:extLst>
              <a:ext uri="{FF2B5EF4-FFF2-40B4-BE49-F238E27FC236}">
                <a16:creationId xmlns:a16="http://schemas.microsoft.com/office/drawing/2014/main" id="{341400BD-6B69-9489-6DAE-F0CEF6E8DDA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39512" y="3260615"/>
            <a:ext cx="182880" cy="182880"/>
          </a:xfrm>
          <a:prstGeom prst="rect">
            <a:avLst/>
          </a:prstGeom>
        </p:spPr>
      </p:pic>
      <p:sp>
        <p:nvSpPr>
          <p:cNvPr id="91" name="Shape 26">
            <a:extLst>
              <a:ext uri="{FF2B5EF4-FFF2-40B4-BE49-F238E27FC236}">
                <a16:creationId xmlns:a16="http://schemas.microsoft.com/office/drawing/2014/main" id="{5E7715EE-B26E-F019-1E34-70EA5CBD42E2}"/>
              </a:ext>
            </a:extLst>
          </p:cNvPr>
          <p:cNvSpPr/>
          <p:nvPr/>
        </p:nvSpPr>
        <p:spPr>
          <a:xfrm>
            <a:off x="0" y="4058969"/>
            <a:ext cx="6858000" cy="1585824"/>
          </a:xfrm>
          <a:prstGeom prst="rect">
            <a:avLst/>
          </a:prstGeom>
          <a:solidFill>
            <a:srgbClr val="2F3D48"/>
          </a:solidFill>
          <a:ln w="12700">
            <a:solidFill>
              <a:srgbClr val="2F3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27">
            <a:extLst>
              <a:ext uri="{FF2B5EF4-FFF2-40B4-BE49-F238E27FC236}">
                <a16:creationId xmlns:a16="http://schemas.microsoft.com/office/drawing/2014/main" id="{52CC3802-760F-7125-4E89-B581EFE665D7}"/>
              </a:ext>
            </a:extLst>
          </p:cNvPr>
          <p:cNvSpPr/>
          <p:nvPr/>
        </p:nvSpPr>
        <p:spPr>
          <a:xfrm>
            <a:off x="274320" y="4192053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kern="0" spc="150" dirty="0">
                <a:solidFill>
                  <a:srgbClr val="FAFAF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HIVE</a:t>
            </a:r>
            <a:endParaRPr lang="en-US" sz="800" dirty="0"/>
          </a:p>
        </p:txBody>
      </p:sp>
      <p:pic>
        <p:nvPicPr>
          <p:cNvPr id="95" name="Image 19" descr="preencoded.png">
            <a:extLst>
              <a:ext uri="{FF2B5EF4-FFF2-40B4-BE49-F238E27FC236}">
                <a16:creationId xmlns:a16="http://schemas.microsoft.com/office/drawing/2014/main" id="{295E6CF6-798B-A124-F6E2-6045F5D4DB5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4320" y="4445494"/>
            <a:ext cx="219456" cy="219456"/>
          </a:xfrm>
          <a:prstGeom prst="rect">
            <a:avLst/>
          </a:prstGeom>
        </p:spPr>
      </p:pic>
      <p:sp>
        <p:nvSpPr>
          <p:cNvPr id="97" name="Text 28">
            <a:extLst>
              <a:ext uri="{FF2B5EF4-FFF2-40B4-BE49-F238E27FC236}">
                <a16:creationId xmlns:a16="http://schemas.microsoft.com/office/drawing/2014/main" id="{15F9F911-9D58-595A-9FC6-742759270715}"/>
              </a:ext>
            </a:extLst>
          </p:cNvPr>
          <p:cNvSpPr/>
          <p:nvPr/>
        </p:nvSpPr>
        <p:spPr>
          <a:xfrm>
            <a:off x="274320" y="4728958"/>
            <a:ext cx="1522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One model,</a:t>
            </a:r>
            <a:endParaRPr lang="en-US" sz="850" dirty="0"/>
          </a:p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every machine</a:t>
            </a:r>
            <a:endParaRPr lang="en-US" sz="850" dirty="0"/>
          </a:p>
        </p:txBody>
      </p:sp>
      <p:sp>
        <p:nvSpPr>
          <p:cNvPr id="99" name="Text 29">
            <a:extLst>
              <a:ext uri="{FF2B5EF4-FFF2-40B4-BE49-F238E27FC236}">
                <a16:creationId xmlns:a16="http://schemas.microsoft.com/office/drawing/2014/main" id="{AA652683-366D-19CD-156D-0DEEEFAEEC8A}"/>
              </a:ext>
            </a:extLst>
          </p:cNvPr>
          <p:cNvSpPr/>
          <p:nvPr/>
        </p:nvSpPr>
        <p:spPr>
          <a:xfrm>
            <a:off x="274320" y="5067286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700" dirty="0">
                <a:solidFill>
                  <a:srgbClr val="CDDDE6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A single AI across the whole fleet — not a separate integration per machine type.</a:t>
            </a:r>
            <a:endParaRPr lang="en-US" sz="700" dirty="0"/>
          </a:p>
        </p:txBody>
      </p:sp>
      <p:pic>
        <p:nvPicPr>
          <p:cNvPr id="101" name="Image 20" descr="preencoded.png">
            <a:extLst>
              <a:ext uri="{FF2B5EF4-FFF2-40B4-BE49-F238E27FC236}">
                <a16:creationId xmlns:a16="http://schemas.microsoft.com/office/drawing/2014/main" id="{B6413FFD-6444-2049-E95A-322C5BC6FE1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51660" y="4445494"/>
            <a:ext cx="219456" cy="219456"/>
          </a:xfrm>
          <a:prstGeom prst="rect">
            <a:avLst/>
          </a:prstGeom>
        </p:spPr>
      </p:pic>
      <p:sp>
        <p:nvSpPr>
          <p:cNvPr id="103" name="Text 30">
            <a:extLst>
              <a:ext uri="{FF2B5EF4-FFF2-40B4-BE49-F238E27FC236}">
                <a16:creationId xmlns:a16="http://schemas.microsoft.com/office/drawing/2014/main" id="{A8669AAF-7EEB-23DB-5087-ACF89FFD67DE}"/>
              </a:ext>
            </a:extLst>
          </p:cNvPr>
          <p:cNvSpPr/>
          <p:nvPr/>
        </p:nvSpPr>
        <p:spPr>
          <a:xfrm>
            <a:off x="1851660" y="4728958"/>
            <a:ext cx="1522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Enhancement,</a:t>
            </a:r>
            <a:endParaRPr lang="en-US" sz="850" dirty="0"/>
          </a:p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not replacement</a:t>
            </a:r>
            <a:endParaRPr lang="en-US" sz="850" dirty="0"/>
          </a:p>
        </p:txBody>
      </p:sp>
      <p:sp>
        <p:nvSpPr>
          <p:cNvPr id="105" name="Text 31">
            <a:extLst>
              <a:ext uri="{FF2B5EF4-FFF2-40B4-BE49-F238E27FC236}">
                <a16:creationId xmlns:a16="http://schemas.microsoft.com/office/drawing/2014/main" id="{491BE98F-C8ED-B29F-4D85-D876B975372F}"/>
              </a:ext>
            </a:extLst>
          </p:cNvPr>
          <p:cNvSpPr/>
          <p:nvPr/>
        </p:nvSpPr>
        <p:spPr>
          <a:xfrm>
            <a:off x="1851660" y="5067286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700" dirty="0">
                <a:solidFill>
                  <a:srgbClr val="CDDDE6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Sensors + lidar on machines you already own. Installed in days, fully reversible.</a:t>
            </a:r>
            <a:endParaRPr lang="en-US" sz="700" dirty="0"/>
          </a:p>
        </p:txBody>
      </p:sp>
      <p:pic>
        <p:nvPicPr>
          <p:cNvPr id="107" name="Image 21" descr="preencoded.png">
            <a:extLst>
              <a:ext uri="{FF2B5EF4-FFF2-40B4-BE49-F238E27FC236}">
                <a16:creationId xmlns:a16="http://schemas.microsoft.com/office/drawing/2014/main" id="{EFB36DEB-3FC9-F42B-25EB-2A79FCBE39E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29000" y="4445494"/>
            <a:ext cx="219456" cy="219456"/>
          </a:xfrm>
          <a:prstGeom prst="rect">
            <a:avLst/>
          </a:prstGeom>
        </p:spPr>
      </p:pic>
      <p:sp>
        <p:nvSpPr>
          <p:cNvPr id="109" name="Text 32">
            <a:extLst>
              <a:ext uri="{FF2B5EF4-FFF2-40B4-BE49-F238E27FC236}">
                <a16:creationId xmlns:a16="http://schemas.microsoft.com/office/drawing/2014/main" id="{C16D727D-E493-C1A3-EE45-A174DB6B0564}"/>
              </a:ext>
            </a:extLst>
          </p:cNvPr>
          <p:cNvSpPr/>
          <p:nvPr/>
        </p:nvSpPr>
        <p:spPr>
          <a:xfrm>
            <a:off x="3429000" y="4728958"/>
            <a:ext cx="1522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Human-in-the-loop</a:t>
            </a:r>
            <a:endParaRPr lang="en-US" sz="850" dirty="0"/>
          </a:p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by design</a:t>
            </a:r>
            <a:endParaRPr lang="en-US" sz="850" dirty="0"/>
          </a:p>
        </p:txBody>
      </p:sp>
      <p:sp>
        <p:nvSpPr>
          <p:cNvPr id="111" name="Text 33">
            <a:extLst>
              <a:ext uri="{FF2B5EF4-FFF2-40B4-BE49-F238E27FC236}">
                <a16:creationId xmlns:a16="http://schemas.microsoft.com/office/drawing/2014/main" id="{AA09B40B-2187-C3AF-5F7E-73515EB772CE}"/>
              </a:ext>
            </a:extLst>
          </p:cNvPr>
          <p:cNvSpPr/>
          <p:nvPr/>
        </p:nvSpPr>
        <p:spPr>
          <a:xfrm>
            <a:off x="3429000" y="5067286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700" dirty="0">
                <a:solidFill>
                  <a:srgbClr val="CDDDE6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Supervision is the product, not the fallback. Edge cases become the next training set.</a:t>
            </a:r>
            <a:endParaRPr lang="en-US" sz="700" dirty="0"/>
          </a:p>
        </p:txBody>
      </p:sp>
      <p:pic>
        <p:nvPicPr>
          <p:cNvPr id="113" name="Image 22" descr="preencoded.png">
            <a:extLst>
              <a:ext uri="{FF2B5EF4-FFF2-40B4-BE49-F238E27FC236}">
                <a16:creationId xmlns:a16="http://schemas.microsoft.com/office/drawing/2014/main" id="{1BC21782-029E-517B-E259-CCED3DAAFE9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06340" y="4445494"/>
            <a:ext cx="219456" cy="219456"/>
          </a:xfrm>
          <a:prstGeom prst="rect">
            <a:avLst/>
          </a:prstGeom>
        </p:spPr>
      </p:pic>
      <p:sp>
        <p:nvSpPr>
          <p:cNvPr id="115" name="Text 34">
            <a:extLst>
              <a:ext uri="{FF2B5EF4-FFF2-40B4-BE49-F238E27FC236}">
                <a16:creationId xmlns:a16="http://schemas.microsoft.com/office/drawing/2014/main" id="{37B29939-BA8A-A352-7953-A4BEBABAE1B7}"/>
              </a:ext>
            </a:extLst>
          </p:cNvPr>
          <p:cNvSpPr/>
          <p:nvPr/>
        </p:nvSpPr>
        <p:spPr>
          <a:xfrm>
            <a:off x="5006340" y="4728958"/>
            <a:ext cx="1522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ROI from</a:t>
            </a:r>
            <a:endParaRPr lang="en-US" sz="850" dirty="0"/>
          </a:p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Month 1</a:t>
            </a:r>
            <a:endParaRPr lang="en-US" sz="850" dirty="0"/>
          </a:p>
        </p:txBody>
      </p:sp>
      <p:sp>
        <p:nvSpPr>
          <p:cNvPr id="117" name="Text 35">
            <a:extLst>
              <a:ext uri="{FF2B5EF4-FFF2-40B4-BE49-F238E27FC236}">
                <a16:creationId xmlns:a16="http://schemas.microsoft.com/office/drawing/2014/main" id="{7B40DFA1-4046-F61A-C7DB-5D894E627A70}"/>
              </a:ext>
            </a:extLst>
          </p:cNvPr>
          <p:cNvSpPr/>
          <p:nvPr/>
        </p:nvSpPr>
        <p:spPr>
          <a:xfrm>
            <a:off x="5006340" y="5067286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700" dirty="0">
                <a:solidFill>
                  <a:srgbClr val="CDDDE6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No upfront Capex, no change management. Operation-ready within two weeks.</a:t>
            </a:r>
            <a:endParaRPr lang="en-US" sz="700" dirty="0"/>
          </a:p>
        </p:txBody>
      </p:sp>
      <p:sp>
        <p:nvSpPr>
          <p:cNvPr id="119" name="Text 27">
            <a:extLst>
              <a:ext uri="{FF2B5EF4-FFF2-40B4-BE49-F238E27FC236}">
                <a16:creationId xmlns:a16="http://schemas.microsoft.com/office/drawing/2014/main" id="{B0C94A74-F4C9-9C25-AAAF-24FA19DCE8E8}"/>
              </a:ext>
            </a:extLst>
          </p:cNvPr>
          <p:cNvSpPr/>
          <p:nvPr/>
        </p:nvSpPr>
        <p:spPr>
          <a:xfrm>
            <a:off x="3429000" y="6417147"/>
            <a:ext cx="2761537" cy="164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kern="0" spc="120" dirty="0">
                <a:solidFill>
                  <a:srgbClr val="2F3D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EXAMPLE OF A HIVE-ENHANCED MACHINE</a:t>
            </a:r>
            <a:endParaRPr lang="en-US" sz="650" dirty="0">
              <a:solidFill>
                <a:srgbClr val="2F3D48"/>
              </a:solidFill>
            </a:endParaRPr>
          </a:p>
        </p:txBody>
      </p:sp>
      <p:pic>
        <p:nvPicPr>
          <p:cNvPr id="121" name="Image 19">
            <a:extLst>
              <a:ext uri="{FF2B5EF4-FFF2-40B4-BE49-F238E27FC236}">
                <a16:creationId xmlns:a16="http://schemas.microsoft.com/office/drawing/2014/main" id="{00E18C12-BD84-4F70-77A6-7B0900833BA9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456979" y="6180070"/>
            <a:ext cx="2565621" cy="1832585"/>
          </a:xfrm>
          <a:prstGeom prst="rect">
            <a:avLst/>
          </a:prstGeom>
        </p:spPr>
      </p:pic>
      <p:sp>
        <p:nvSpPr>
          <p:cNvPr id="123" name="Text 31">
            <a:extLst>
              <a:ext uri="{FF2B5EF4-FFF2-40B4-BE49-F238E27FC236}">
                <a16:creationId xmlns:a16="http://schemas.microsoft.com/office/drawing/2014/main" id="{DDB09981-E186-DAF7-0AAB-B948DE36093A}"/>
              </a:ext>
            </a:extLst>
          </p:cNvPr>
          <p:cNvSpPr/>
          <p:nvPr/>
        </p:nvSpPr>
        <p:spPr>
          <a:xfrm>
            <a:off x="3429000" y="6720571"/>
            <a:ext cx="2761537" cy="138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kern="0" spc="80" dirty="0">
                <a:solidFill>
                  <a:srgbClr val="2F3D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LIDAR</a:t>
            </a:r>
            <a:endParaRPr lang="en-US" sz="700" dirty="0">
              <a:solidFill>
                <a:srgbClr val="2F3D48"/>
              </a:solidFill>
            </a:endParaRPr>
          </a:p>
        </p:txBody>
      </p:sp>
      <p:sp>
        <p:nvSpPr>
          <p:cNvPr id="125" name="Text 32">
            <a:extLst>
              <a:ext uri="{FF2B5EF4-FFF2-40B4-BE49-F238E27FC236}">
                <a16:creationId xmlns:a16="http://schemas.microsoft.com/office/drawing/2014/main" id="{794BA298-C102-3FF4-3D53-D073B2CCC955}"/>
              </a:ext>
            </a:extLst>
          </p:cNvPr>
          <p:cNvSpPr/>
          <p:nvPr/>
        </p:nvSpPr>
        <p:spPr>
          <a:xfrm>
            <a:off x="3429000" y="6849362"/>
            <a:ext cx="2761537" cy="128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Front-mounted · distance sensing &amp; obstacle detection</a:t>
            </a:r>
            <a:endParaRPr lang="en-US" sz="700" dirty="0">
              <a:solidFill>
                <a:srgbClr val="2F3D48"/>
              </a:solidFill>
            </a:endParaRPr>
          </a:p>
        </p:txBody>
      </p:sp>
      <p:sp>
        <p:nvSpPr>
          <p:cNvPr id="127" name="Text 36">
            <a:extLst>
              <a:ext uri="{FF2B5EF4-FFF2-40B4-BE49-F238E27FC236}">
                <a16:creationId xmlns:a16="http://schemas.microsoft.com/office/drawing/2014/main" id="{DDAC13D7-6D30-298A-6E10-969416F84744}"/>
              </a:ext>
            </a:extLst>
          </p:cNvPr>
          <p:cNvSpPr/>
          <p:nvPr/>
        </p:nvSpPr>
        <p:spPr>
          <a:xfrm>
            <a:off x="3429000" y="6990319"/>
            <a:ext cx="2761537" cy="138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kern="0" spc="80" dirty="0">
                <a:solidFill>
                  <a:srgbClr val="2F3D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CAMERA</a:t>
            </a:r>
            <a:endParaRPr lang="en-US" sz="700" dirty="0">
              <a:solidFill>
                <a:srgbClr val="2F3D48"/>
              </a:solidFill>
            </a:endParaRPr>
          </a:p>
        </p:txBody>
      </p:sp>
      <p:sp>
        <p:nvSpPr>
          <p:cNvPr id="129" name="Text 37">
            <a:extLst>
              <a:ext uri="{FF2B5EF4-FFF2-40B4-BE49-F238E27FC236}">
                <a16:creationId xmlns:a16="http://schemas.microsoft.com/office/drawing/2014/main" id="{9DED40B7-E4C6-CA11-7F6F-BA4AD7AB7625}"/>
              </a:ext>
            </a:extLst>
          </p:cNvPr>
          <p:cNvSpPr/>
          <p:nvPr/>
        </p:nvSpPr>
        <p:spPr>
          <a:xfrm>
            <a:off x="3429000" y="7119110"/>
            <a:ext cx="2761537" cy="128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Operator zone &amp; mast · visual environment mapping</a:t>
            </a:r>
            <a:endParaRPr lang="en-US" sz="700" dirty="0">
              <a:solidFill>
                <a:srgbClr val="2F3D48"/>
              </a:solidFill>
            </a:endParaRPr>
          </a:p>
        </p:txBody>
      </p:sp>
      <p:sp>
        <p:nvSpPr>
          <p:cNvPr id="131" name="Text 41">
            <a:extLst>
              <a:ext uri="{FF2B5EF4-FFF2-40B4-BE49-F238E27FC236}">
                <a16:creationId xmlns:a16="http://schemas.microsoft.com/office/drawing/2014/main" id="{BCCB4B83-F924-EA8D-12E5-1E855120F722}"/>
              </a:ext>
            </a:extLst>
          </p:cNvPr>
          <p:cNvSpPr/>
          <p:nvPr/>
        </p:nvSpPr>
        <p:spPr>
          <a:xfrm>
            <a:off x="3429000" y="7260067"/>
            <a:ext cx="2761537" cy="138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kern="0" spc="80" dirty="0">
                <a:solidFill>
                  <a:srgbClr val="2F3D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CONTROL CABINET</a:t>
            </a:r>
            <a:endParaRPr lang="en-US" sz="700" dirty="0">
              <a:solidFill>
                <a:srgbClr val="2F3D48"/>
              </a:solidFill>
            </a:endParaRPr>
          </a:p>
        </p:txBody>
      </p:sp>
      <p:sp>
        <p:nvSpPr>
          <p:cNvPr id="133" name="Text 42">
            <a:extLst>
              <a:ext uri="{FF2B5EF4-FFF2-40B4-BE49-F238E27FC236}">
                <a16:creationId xmlns:a16="http://schemas.microsoft.com/office/drawing/2014/main" id="{B8FBC4AE-0075-5561-A507-FE87CBAC7FDF}"/>
              </a:ext>
            </a:extLst>
          </p:cNvPr>
          <p:cNvSpPr/>
          <p:nvPr/>
        </p:nvSpPr>
        <p:spPr>
          <a:xfrm>
            <a:off x="3429000" y="7388858"/>
            <a:ext cx="2761537" cy="128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Onboard Hive AI compute · edge intelligence module</a:t>
            </a:r>
            <a:endParaRPr lang="en-US" sz="700" dirty="0">
              <a:solidFill>
                <a:srgbClr val="2F3D48"/>
              </a:solidFill>
            </a:endParaRPr>
          </a:p>
        </p:txBody>
      </p:sp>
      <p:sp>
        <p:nvSpPr>
          <p:cNvPr id="135" name="Shape 36">
            <a:extLst>
              <a:ext uri="{FF2B5EF4-FFF2-40B4-BE49-F238E27FC236}">
                <a16:creationId xmlns:a16="http://schemas.microsoft.com/office/drawing/2014/main" id="{7F5819C9-5770-A40B-279A-452E0ACB557F}"/>
              </a:ext>
            </a:extLst>
          </p:cNvPr>
          <p:cNvSpPr/>
          <p:nvPr/>
        </p:nvSpPr>
        <p:spPr>
          <a:xfrm>
            <a:off x="0" y="8449606"/>
            <a:ext cx="6858000" cy="1261872"/>
          </a:xfrm>
          <a:prstGeom prst="rect">
            <a:avLst/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7" name="Text 37">
            <a:extLst>
              <a:ext uri="{FF2B5EF4-FFF2-40B4-BE49-F238E27FC236}">
                <a16:creationId xmlns:a16="http://schemas.microsoft.com/office/drawing/2014/main" id="{38B9A2C8-FCC7-BFBF-0C06-6EBC0E6EC5AB}"/>
              </a:ext>
            </a:extLst>
          </p:cNvPr>
          <p:cNvSpPr/>
          <p:nvPr/>
        </p:nvSpPr>
        <p:spPr>
          <a:xfrm>
            <a:off x="302925" y="8550189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kern="0" spc="150" dirty="0">
                <a:solidFill>
                  <a:srgbClr val="2F3D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800" dirty="0"/>
          </a:p>
        </p:txBody>
      </p:sp>
      <p:sp>
        <p:nvSpPr>
          <p:cNvPr id="139" name="Text 38">
            <a:extLst>
              <a:ext uri="{FF2B5EF4-FFF2-40B4-BE49-F238E27FC236}">
                <a16:creationId xmlns:a16="http://schemas.microsoft.com/office/drawing/2014/main" id="{07ABD518-BEAE-707E-C458-1D4A25B31F37}"/>
              </a:ext>
            </a:extLst>
          </p:cNvPr>
          <p:cNvSpPr/>
          <p:nvPr/>
        </p:nvSpPr>
        <p:spPr>
          <a:xfrm>
            <a:off x="274320" y="8751357"/>
            <a:ext cx="1577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30%</a:t>
            </a:r>
            <a:endParaRPr lang="en-US" sz="2400" dirty="0"/>
          </a:p>
        </p:txBody>
      </p:sp>
      <p:sp>
        <p:nvSpPr>
          <p:cNvPr id="141" name="Text 39">
            <a:extLst>
              <a:ext uri="{FF2B5EF4-FFF2-40B4-BE49-F238E27FC236}">
                <a16:creationId xmlns:a16="http://schemas.microsoft.com/office/drawing/2014/main" id="{CB100702-F1C2-C6C2-1C62-612100EC7EAA}"/>
              </a:ext>
            </a:extLst>
          </p:cNvPr>
          <p:cNvSpPr/>
          <p:nvPr/>
        </p:nvSpPr>
        <p:spPr>
          <a:xfrm>
            <a:off x="274320" y="9254277"/>
            <a:ext cx="1531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5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lower labour cost</a:t>
            </a:r>
            <a:endParaRPr lang="en-US" sz="750" dirty="0"/>
          </a:p>
          <a:p>
            <a:pPr>
              <a:lnSpc>
                <a:spcPct val="130000"/>
              </a:lnSpc>
            </a:pPr>
            <a:r>
              <a:rPr lang="en-US" sz="75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from Month 2</a:t>
            </a:r>
            <a:endParaRPr lang="en-US" sz="750" dirty="0"/>
          </a:p>
        </p:txBody>
      </p:sp>
      <p:sp>
        <p:nvSpPr>
          <p:cNvPr id="143" name="Text 41">
            <a:extLst>
              <a:ext uri="{FF2B5EF4-FFF2-40B4-BE49-F238E27FC236}">
                <a16:creationId xmlns:a16="http://schemas.microsoft.com/office/drawing/2014/main" id="{0184D85D-51C2-B2DF-C03F-AFD3AEFB7172}"/>
              </a:ext>
            </a:extLst>
          </p:cNvPr>
          <p:cNvSpPr/>
          <p:nvPr/>
        </p:nvSpPr>
        <p:spPr>
          <a:xfrm>
            <a:off x="1851660" y="8751357"/>
            <a:ext cx="1577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2×</a:t>
            </a:r>
            <a:endParaRPr lang="en-US" sz="2400" dirty="0"/>
          </a:p>
        </p:txBody>
      </p:sp>
      <p:sp>
        <p:nvSpPr>
          <p:cNvPr id="145" name="Text 42">
            <a:extLst>
              <a:ext uri="{FF2B5EF4-FFF2-40B4-BE49-F238E27FC236}">
                <a16:creationId xmlns:a16="http://schemas.microsoft.com/office/drawing/2014/main" id="{E9FF539C-12D9-7C5F-FC1A-64553CF3CDB4}"/>
              </a:ext>
            </a:extLst>
          </p:cNvPr>
          <p:cNvSpPr/>
          <p:nvPr/>
        </p:nvSpPr>
        <p:spPr>
          <a:xfrm>
            <a:off x="1851660" y="9254278"/>
            <a:ext cx="1531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5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end-to-end workflow</a:t>
            </a:r>
            <a:endParaRPr lang="en-US" sz="750" dirty="0"/>
          </a:p>
          <a:p>
            <a:pPr>
              <a:lnSpc>
                <a:spcPct val="130000"/>
              </a:lnSpc>
            </a:pPr>
            <a:r>
              <a:rPr lang="en-US" sz="75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speed vs AMRs</a:t>
            </a:r>
            <a:endParaRPr lang="en-US" sz="750" dirty="0"/>
          </a:p>
        </p:txBody>
      </p:sp>
      <p:sp>
        <p:nvSpPr>
          <p:cNvPr id="147" name="Text 44">
            <a:extLst>
              <a:ext uri="{FF2B5EF4-FFF2-40B4-BE49-F238E27FC236}">
                <a16:creationId xmlns:a16="http://schemas.microsoft.com/office/drawing/2014/main" id="{17F08BE4-EC70-5967-ADB3-4D34DCFC0EEA}"/>
              </a:ext>
            </a:extLst>
          </p:cNvPr>
          <p:cNvSpPr/>
          <p:nvPr/>
        </p:nvSpPr>
        <p:spPr>
          <a:xfrm>
            <a:off x="3429000" y="8751357"/>
            <a:ext cx="1577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50%</a:t>
            </a:r>
            <a:endParaRPr lang="en-US" sz="2400" dirty="0"/>
          </a:p>
        </p:txBody>
      </p:sp>
      <p:sp>
        <p:nvSpPr>
          <p:cNvPr id="149" name="Text 45">
            <a:extLst>
              <a:ext uri="{FF2B5EF4-FFF2-40B4-BE49-F238E27FC236}">
                <a16:creationId xmlns:a16="http://schemas.microsoft.com/office/drawing/2014/main" id="{0E42885D-9716-6BB5-EE29-CAE1E54FB89E}"/>
              </a:ext>
            </a:extLst>
          </p:cNvPr>
          <p:cNvSpPr/>
          <p:nvPr/>
        </p:nvSpPr>
        <p:spPr>
          <a:xfrm>
            <a:off x="3429000" y="9254278"/>
            <a:ext cx="1531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5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fewer vehicles</a:t>
            </a:r>
            <a:endParaRPr lang="en-US" sz="750" dirty="0"/>
          </a:p>
          <a:p>
            <a:pPr>
              <a:lnSpc>
                <a:spcPct val="130000"/>
              </a:lnSpc>
            </a:pPr>
            <a:r>
              <a:rPr lang="en-US" sz="75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needed vs AMRs</a:t>
            </a:r>
            <a:endParaRPr lang="en-US" sz="750" dirty="0"/>
          </a:p>
        </p:txBody>
      </p:sp>
      <p:sp>
        <p:nvSpPr>
          <p:cNvPr id="151" name="Text 47">
            <a:extLst>
              <a:ext uri="{FF2B5EF4-FFF2-40B4-BE49-F238E27FC236}">
                <a16:creationId xmlns:a16="http://schemas.microsoft.com/office/drawing/2014/main" id="{FFDFDF0A-7C63-6985-83F9-086681D41F33}"/>
              </a:ext>
            </a:extLst>
          </p:cNvPr>
          <p:cNvSpPr/>
          <p:nvPr/>
        </p:nvSpPr>
        <p:spPr>
          <a:xfrm>
            <a:off x="5006340" y="8751357"/>
            <a:ext cx="1577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90–100%</a:t>
            </a:r>
            <a:endParaRPr lang="en-US" sz="2800" dirty="0"/>
          </a:p>
        </p:txBody>
      </p:sp>
      <p:sp>
        <p:nvSpPr>
          <p:cNvPr id="153" name="Text 48">
            <a:extLst>
              <a:ext uri="{FF2B5EF4-FFF2-40B4-BE49-F238E27FC236}">
                <a16:creationId xmlns:a16="http://schemas.microsoft.com/office/drawing/2014/main" id="{497EAF3B-BF61-2143-5312-2FFC47E0DCE2}"/>
              </a:ext>
            </a:extLst>
          </p:cNvPr>
          <p:cNvSpPr/>
          <p:nvPr/>
        </p:nvSpPr>
        <p:spPr>
          <a:xfrm>
            <a:off x="5006340" y="9254278"/>
            <a:ext cx="1531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5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damage cases</a:t>
            </a:r>
            <a:endParaRPr lang="en-US" sz="750" dirty="0"/>
          </a:p>
          <a:p>
            <a:pPr>
              <a:lnSpc>
                <a:spcPct val="130000"/>
              </a:lnSpc>
            </a:pPr>
            <a:r>
              <a:rPr lang="en-US" sz="75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removed</a:t>
            </a:r>
            <a:endParaRPr lang="en-US" sz="750" dirty="0"/>
          </a:p>
        </p:txBody>
      </p:sp>
      <p:sp>
        <p:nvSpPr>
          <p:cNvPr id="163" name="Shape 49">
            <a:extLst>
              <a:ext uri="{FF2B5EF4-FFF2-40B4-BE49-F238E27FC236}">
                <a16:creationId xmlns:a16="http://schemas.microsoft.com/office/drawing/2014/main" id="{302732DE-9FEA-B98D-010A-8DD7FA5FC60F}"/>
              </a:ext>
            </a:extLst>
          </p:cNvPr>
          <p:cNvSpPr/>
          <p:nvPr/>
        </p:nvSpPr>
        <p:spPr>
          <a:xfrm>
            <a:off x="274319" y="9992787"/>
            <a:ext cx="57212" cy="812127"/>
          </a:xfrm>
          <a:prstGeom prst="rect">
            <a:avLst/>
          </a:prstGeom>
          <a:solidFill>
            <a:srgbClr val="FF371C"/>
          </a:solidFill>
          <a:ln w="12700">
            <a:solidFill>
              <a:srgbClr val="FF37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50">
            <a:extLst>
              <a:ext uri="{FF2B5EF4-FFF2-40B4-BE49-F238E27FC236}">
                <a16:creationId xmlns:a16="http://schemas.microsoft.com/office/drawing/2014/main" id="{C60BBD21-3827-EFD2-56C7-93180739CE33}"/>
              </a:ext>
            </a:extLst>
          </p:cNvPr>
          <p:cNvSpPr/>
          <p:nvPr/>
        </p:nvSpPr>
        <p:spPr>
          <a:xfrm>
            <a:off x="457200" y="10033818"/>
            <a:ext cx="606926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i="1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“This is a unique addition to Toyota’s product portfolio and the first technology launch of its kind in Norway. The partnership enables the automation of a wide range of truck types, both existing and new models.”</a:t>
            </a:r>
            <a:endParaRPr lang="en-US" sz="1000" dirty="0"/>
          </a:p>
        </p:txBody>
      </p:sp>
      <p:sp>
        <p:nvSpPr>
          <p:cNvPr id="167" name="Text 51">
            <a:extLst>
              <a:ext uri="{FF2B5EF4-FFF2-40B4-BE49-F238E27FC236}">
                <a16:creationId xmlns:a16="http://schemas.microsoft.com/office/drawing/2014/main" id="{7819CC57-54E1-BE9E-C5EA-8377B61D207E}"/>
              </a:ext>
            </a:extLst>
          </p:cNvPr>
          <p:cNvSpPr/>
          <p:nvPr/>
        </p:nvSpPr>
        <p:spPr>
          <a:xfrm>
            <a:off x="457200" y="10629036"/>
            <a:ext cx="606926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kern="0" spc="30" dirty="0">
                <a:solidFill>
                  <a:srgbClr val="2F3D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Lars Petter Bjørgen  ·  Director of Sales, Toyota Material Handling Norway</a:t>
            </a:r>
            <a:endParaRPr lang="en-US" sz="650" dirty="0"/>
          </a:p>
        </p:txBody>
      </p:sp>
      <p:sp>
        <p:nvSpPr>
          <p:cNvPr id="169" name="Shape 52">
            <a:extLst>
              <a:ext uri="{FF2B5EF4-FFF2-40B4-BE49-F238E27FC236}">
                <a16:creationId xmlns:a16="http://schemas.microsoft.com/office/drawing/2014/main" id="{D5082302-AE11-81C7-36A5-C5D8A1296F3D}"/>
              </a:ext>
            </a:extLst>
          </p:cNvPr>
          <p:cNvSpPr/>
          <p:nvPr/>
        </p:nvSpPr>
        <p:spPr>
          <a:xfrm>
            <a:off x="-17602" y="11085674"/>
            <a:ext cx="6858000" cy="1188720"/>
          </a:xfrm>
          <a:prstGeom prst="rect">
            <a:avLst/>
          </a:prstGeom>
          <a:solidFill>
            <a:srgbClr val="2F3D48"/>
          </a:solidFill>
          <a:ln w="12700">
            <a:solidFill>
              <a:srgbClr val="2F3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53">
            <a:extLst>
              <a:ext uri="{FF2B5EF4-FFF2-40B4-BE49-F238E27FC236}">
                <a16:creationId xmlns:a16="http://schemas.microsoft.com/office/drawing/2014/main" id="{76F53100-AD51-6CFE-C8E7-71538070238C}"/>
              </a:ext>
            </a:extLst>
          </p:cNvPr>
          <p:cNvSpPr/>
          <p:nvPr/>
        </p:nvSpPr>
        <p:spPr>
          <a:xfrm>
            <a:off x="274319" y="11232486"/>
            <a:ext cx="53930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kern="0" spc="100" dirty="0">
                <a:solidFill>
                  <a:srgbClr val="FAFAF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HIVE OPERATES — WHERE OTHERS CAN’T</a:t>
            </a:r>
            <a:endParaRPr lang="en-US" sz="800" dirty="0"/>
          </a:p>
        </p:txBody>
      </p:sp>
      <p:sp>
        <p:nvSpPr>
          <p:cNvPr id="175" name="Text 55">
            <a:extLst>
              <a:ext uri="{FF2B5EF4-FFF2-40B4-BE49-F238E27FC236}">
                <a16:creationId xmlns:a16="http://schemas.microsoft.com/office/drawing/2014/main" id="{A34EA84A-6AD6-DE8E-1BF1-758389348ABE}"/>
              </a:ext>
            </a:extLst>
          </p:cNvPr>
          <p:cNvSpPr/>
          <p:nvPr/>
        </p:nvSpPr>
        <p:spPr>
          <a:xfrm>
            <a:off x="274320" y="11478869"/>
            <a:ext cx="306324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→  Indoor &amp; outdoor — one machine</a:t>
            </a:r>
            <a:endParaRPr lang="en-US" sz="800" dirty="0"/>
          </a:p>
        </p:txBody>
      </p:sp>
      <p:sp>
        <p:nvSpPr>
          <p:cNvPr id="177" name="Text 56">
            <a:extLst>
              <a:ext uri="{FF2B5EF4-FFF2-40B4-BE49-F238E27FC236}">
                <a16:creationId xmlns:a16="http://schemas.microsoft.com/office/drawing/2014/main" id="{538E2B3C-6059-289E-8D1E-7065A162EAE5}"/>
              </a:ext>
            </a:extLst>
          </p:cNvPr>
          <p:cNvSpPr/>
          <p:nvPr/>
        </p:nvSpPr>
        <p:spPr>
          <a:xfrm>
            <a:off x="3520441" y="11478870"/>
            <a:ext cx="306324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→  Operating at height — 3× mast</a:t>
            </a:r>
            <a:endParaRPr lang="en-US" sz="800" dirty="0"/>
          </a:p>
        </p:txBody>
      </p:sp>
      <p:sp>
        <p:nvSpPr>
          <p:cNvPr id="179" name="Text 57">
            <a:extLst>
              <a:ext uri="{FF2B5EF4-FFF2-40B4-BE49-F238E27FC236}">
                <a16:creationId xmlns:a16="http://schemas.microsoft.com/office/drawing/2014/main" id="{ED8E970E-69F0-455E-0F10-A2D46A80A3A7}"/>
              </a:ext>
            </a:extLst>
          </p:cNvPr>
          <p:cNvSpPr/>
          <p:nvPr/>
        </p:nvSpPr>
        <p:spPr>
          <a:xfrm>
            <a:off x="274320" y="11705640"/>
            <a:ext cx="306324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→  Any floor — wet, glossy, uneven</a:t>
            </a:r>
            <a:endParaRPr lang="en-US" sz="800" dirty="0"/>
          </a:p>
        </p:txBody>
      </p:sp>
      <p:sp>
        <p:nvSpPr>
          <p:cNvPr id="181" name="Text 58">
            <a:extLst>
              <a:ext uri="{FF2B5EF4-FFF2-40B4-BE49-F238E27FC236}">
                <a16:creationId xmlns:a16="http://schemas.microsoft.com/office/drawing/2014/main" id="{13EFD0F3-E562-2315-1725-30AFB5BC776B}"/>
              </a:ext>
            </a:extLst>
          </p:cNvPr>
          <p:cNvSpPr/>
          <p:nvPr/>
        </p:nvSpPr>
        <p:spPr>
          <a:xfrm>
            <a:off x="3520441" y="11705640"/>
            <a:ext cx="306324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→  Stacking — bags, drums, totes</a:t>
            </a:r>
            <a:endParaRPr lang="en-US" sz="800" dirty="0"/>
          </a:p>
        </p:txBody>
      </p:sp>
      <p:sp>
        <p:nvSpPr>
          <p:cNvPr id="183" name="Text 59">
            <a:extLst>
              <a:ext uri="{FF2B5EF4-FFF2-40B4-BE49-F238E27FC236}">
                <a16:creationId xmlns:a16="http://schemas.microsoft.com/office/drawing/2014/main" id="{FD1D6F19-7385-2AF1-CA60-875BD4ECAA63}"/>
              </a:ext>
            </a:extLst>
          </p:cNvPr>
          <p:cNvSpPr/>
          <p:nvPr/>
        </p:nvSpPr>
        <p:spPr>
          <a:xfrm>
            <a:off x="274320" y="11932411"/>
            <a:ext cx="306324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→  Containers — no reflectors</a:t>
            </a:r>
            <a:endParaRPr lang="en-US" sz="800" dirty="0"/>
          </a:p>
        </p:txBody>
      </p:sp>
      <p:sp>
        <p:nvSpPr>
          <p:cNvPr id="185" name="Text 60">
            <a:extLst>
              <a:ext uri="{FF2B5EF4-FFF2-40B4-BE49-F238E27FC236}">
                <a16:creationId xmlns:a16="http://schemas.microsoft.com/office/drawing/2014/main" id="{55169A99-8877-09E5-FD4F-087BB582FE22}"/>
              </a:ext>
            </a:extLst>
          </p:cNvPr>
          <p:cNvSpPr/>
          <p:nvPr/>
        </p:nvSpPr>
        <p:spPr>
          <a:xfrm>
            <a:off x="3520440" y="11932411"/>
            <a:ext cx="306324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FAFAFB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→  Cold chain — sub-zero</a:t>
            </a:r>
            <a:endParaRPr lang="en-US" sz="800" dirty="0"/>
          </a:p>
        </p:txBody>
      </p:sp>
      <p:pic>
        <p:nvPicPr>
          <p:cNvPr id="187" name="Image 2" descr="preencoded.png">
            <a:extLst>
              <a:ext uri="{FF2B5EF4-FFF2-40B4-BE49-F238E27FC236}">
                <a16:creationId xmlns:a16="http://schemas.microsoft.com/office/drawing/2014/main" id="{EC462D54-8796-7520-54D3-1B29BEDD473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51661" y="2798001"/>
            <a:ext cx="182880" cy="182880"/>
          </a:xfrm>
          <a:prstGeom prst="rect">
            <a:avLst/>
          </a:prstGeom>
        </p:spPr>
      </p:pic>
      <p:sp>
        <p:nvSpPr>
          <p:cNvPr id="189" name="Shape 61">
            <a:extLst>
              <a:ext uri="{FF2B5EF4-FFF2-40B4-BE49-F238E27FC236}">
                <a16:creationId xmlns:a16="http://schemas.microsoft.com/office/drawing/2014/main" id="{B2B2950C-449F-152E-1670-A6E845481200}"/>
              </a:ext>
            </a:extLst>
          </p:cNvPr>
          <p:cNvSpPr/>
          <p:nvPr/>
        </p:nvSpPr>
        <p:spPr>
          <a:xfrm>
            <a:off x="0" y="12297947"/>
            <a:ext cx="6858000" cy="715921"/>
          </a:xfrm>
          <a:prstGeom prst="rect">
            <a:avLst/>
          </a:prstGeom>
          <a:solidFill>
            <a:srgbClr val="CDDDE6"/>
          </a:solidFill>
          <a:ln w="12700">
            <a:solidFill>
              <a:srgbClr val="CD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62">
            <a:extLst>
              <a:ext uri="{FF2B5EF4-FFF2-40B4-BE49-F238E27FC236}">
                <a16:creationId xmlns:a16="http://schemas.microsoft.com/office/drawing/2014/main" id="{C9CF70F1-087F-4A2F-D3D1-3BA297BEE860}"/>
              </a:ext>
            </a:extLst>
          </p:cNvPr>
          <p:cNvSpPr/>
          <p:nvPr/>
        </p:nvSpPr>
        <p:spPr>
          <a:xfrm>
            <a:off x="274320" y="12487886"/>
            <a:ext cx="6309360" cy="36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2F3D48"/>
                </a:solidFill>
                <a:latin typeface="APK Galeria" pitchFamily="34" charset="0"/>
                <a:ea typeface="APK Galeria" pitchFamily="34" charset="-122"/>
                <a:cs typeface="APK Galeria" pitchFamily="34" charset="-120"/>
              </a:rPr>
              <a:t>Live in operation today at market-leading companies in cold chain, grocery distribution, fish farming, waste management and industrial distribution.</a:t>
            </a:r>
            <a:endParaRPr lang="en-US" sz="1000" dirty="0"/>
          </a:p>
        </p:txBody>
      </p:sp>
      <p:sp>
        <p:nvSpPr>
          <p:cNvPr id="193" name="Shape 63">
            <a:extLst>
              <a:ext uri="{FF2B5EF4-FFF2-40B4-BE49-F238E27FC236}">
                <a16:creationId xmlns:a16="http://schemas.microsoft.com/office/drawing/2014/main" id="{E6BE5006-48E8-0D4B-8E04-2B331366CD59}"/>
              </a:ext>
            </a:extLst>
          </p:cNvPr>
          <p:cNvSpPr/>
          <p:nvPr/>
        </p:nvSpPr>
        <p:spPr>
          <a:xfrm>
            <a:off x="0" y="13013868"/>
            <a:ext cx="6858000" cy="702132"/>
          </a:xfrm>
          <a:prstGeom prst="rect">
            <a:avLst/>
          </a:prstGeom>
          <a:solidFill>
            <a:srgbClr val="2F3D48"/>
          </a:solidFill>
          <a:ln w="12700">
            <a:solidFill>
              <a:srgbClr val="2F3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5" name="Image 23">
            <a:extLst>
              <a:ext uri="{FF2B5EF4-FFF2-40B4-BE49-F238E27FC236}">
                <a16:creationId xmlns:a16="http://schemas.microsoft.com/office/drawing/2014/main" id="{8261161E-1EEC-8A6A-BD80-7C68E9D93B73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274320" y="13296427"/>
            <a:ext cx="201168" cy="153557"/>
          </a:xfrm>
          <a:prstGeom prst="rect">
            <a:avLst/>
          </a:prstGeom>
        </p:spPr>
      </p:pic>
      <p:sp>
        <p:nvSpPr>
          <p:cNvPr id="197" name="Text 64">
            <a:extLst>
              <a:ext uri="{FF2B5EF4-FFF2-40B4-BE49-F238E27FC236}">
                <a16:creationId xmlns:a16="http://schemas.microsoft.com/office/drawing/2014/main" id="{CCC01FC2-A083-E2C7-E1F1-A7C1BD102CD6}"/>
              </a:ext>
            </a:extLst>
          </p:cNvPr>
          <p:cNvSpPr/>
          <p:nvPr/>
        </p:nvSpPr>
        <p:spPr>
          <a:xfrm>
            <a:off x="0" y="13309195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kern="0" spc="100" dirty="0">
                <a:solidFill>
                  <a:srgbClr val="FAFAF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[INDUSTRIAL MACHINE INTELLIGENCE]  ·  CONFIDENTIAL</a:t>
            </a:r>
            <a:endParaRPr lang="en-US" sz="700" dirty="0"/>
          </a:p>
        </p:txBody>
      </p:sp>
      <p:sp>
        <p:nvSpPr>
          <p:cNvPr id="199" name="Text 65">
            <a:extLst>
              <a:ext uri="{FF2B5EF4-FFF2-40B4-BE49-F238E27FC236}">
                <a16:creationId xmlns:a16="http://schemas.microsoft.com/office/drawing/2014/main" id="{2C6144B1-1152-2539-A700-FFE26955D30C}"/>
              </a:ext>
            </a:extLst>
          </p:cNvPr>
          <p:cNvSpPr/>
          <p:nvPr/>
        </p:nvSpPr>
        <p:spPr>
          <a:xfrm>
            <a:off x="0" y="13309195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00" kern="0" spc="50" dirty="0">
                <a:solidFill>
                  <a:srgbClr val="CD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hiveautonomy.no</a:t>
            </a:r>
            <a:endParaRPr lang="en-US" sz="700" dirty="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BAAF145A-DDF8-9F9F-7930-F60656219D6B}"/>
              </a:ext>
            </a:extLst>
          </p:cNvPr>
          <p:cNvSpPr/>
          <p:nvPr/>
        </p:nvSpPr>
        <p:spPr>
          <a:xfrm>
            <a:off x="2427628" y="7116800"/>
            <a:ext cx="212702" cy="212702"/>
          </a:xfrm>
          <a:prstGeom prst="ellipse">
            <a:avLst/>
          </a:prstGeom>
          <a:solidFill>
            <a:srgbClr val="FFFFFF">
              <a:alpha val="89804"/>
            </a:srgbClr>
          </a:solidFill>
          <a:ln w="6350">
            <a:solidFill>
              <a:srgbClr val="2F3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Text 31">
            <a:extLst>
              <a:ext uri="{FF2B5EF4-FFF2-40B4-BE49-F238E27FC236}">
                <a16:creationId xmlns:a16="http://schemas.microsoft.com/office/drawing/2014/main" id="{D5E3EEE8-9EFD-FE0A-2AAC-E7BD2270167E}"/>
              </a:ext>
            </a:extLst>
          </p:cNvPr>
          <p:cNvSpPr/>
          <p:nvPr/>
        </p:nvSpPr>
        <p:spPr>
          <a:xfrm>
            <a:off x="841191" y="6665609"/>
            <a:ext cx="373776" cy="192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kern="0" spc="80" dirty="0">
                <a:solidFill>
                  <a:srgbClr val="2F3D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LIDAR</a:t>
            </a:r>
            <a:endParaRPr lang="en-US" sz="700" dirty="0">
              <a:solidFill>
                <a:srgbClr val="2F3D48"/>
              </a:solidFill>
            </a:endParaRPr>
          </a:p>
        </p:txBody>
      </p:sp>
      <p:sp>
        <p:nvSpPr>
          <p:cNvPr id="214" name="Text 31">
            <a:extLst>
              <a:ext uri="{FF2B5EF4-FFF2-40B4-BE49-F238E27FC236}">
                <a16:creationId xmlns:a16="http://schemas.microsoft.com/office/drawing/2014/main" id="{DA63CFE9-404D-DC05-9A53-BFFAD8C47558}"/>
              </a:ext>
            </a:extLst>
          </p:cNvPr>
          <p:cNvSpPr/>
          <p:nvPr/>
        </p:nvSpPr>
        <p:spPr>
          <a:xfrm>
            <a:off x="2222548" y="5914593"/>
            <a:ext cx="506279" cy="192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kern="0" spc="80" dirty="0">
                <a:solidFill>
                  <a:srgbClr val="2F3D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CAMERA</a:t>
            </a:r>
            <a:endParaRPr lang="en-US" sz="700" dirty="0">
              <a:solidFill>
                <a:srgbClr val="2F3D48"/>
              </a:solidFill>
            </a:endParaRPr>
          </a:p>
        </p:txBody>
      </p:sp>
      <p:sp>
        <p:nvSpPr>
          <p:cNvPr id="216" name="Text 31">
            <a:extLst>
              <a:ext uri="{FF2B5EF4-FFF2-40B4-BE49-F238E27FC236}">
                <a16:creationId xmlns:a16="http://schemas.microsoft.com/office/drawing/2014/main" id="{8DEF21C3-A2E2-4219-AC39-109505BCC562}"/>
              </a:ext>
            </a:extLst>
          </p:cNvPr>
          <p:cNvSpPr/>
          <p:nvPr/>
        </p:nvSpPr>
        <p:spPr>
          <a:xfrm>
            <a:off x="2285434" y="7981127"/>
            <a:ext cx="506279" cy="192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kern="0" spc="80" dirty="0">
                <a:solidFill>
                  <a:srgbClr val="2F3D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CONTROL CABINET</a:t>
            </a:r>
            <a:endParaRPr lang="en-US" sz="700" dirty="0">
              <a:solidFill>
                <a:srgbClr val="2F3D48"/>
              </a:solidFill>
            </a:endParaRP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CB71B981-A178-7043-A278-80C66CC4A7F9}"/>
              </a:ext>
            </a:extLst>
          </p:cNvPr>
          <p:cNvCxnSpPr>
            <a:cxnSpLocks/>
            <a:endCxn id="204" idx="4"/>
          </p:cNvCxnSpPr>
          <p:nvPr/>
        </p:nvCxnSpPr>
        <p:spPr>
          <a:xfrm flipV="1">
            <a:off x="2533979" y="7329502"/>
            <a:ext cx="0" cy="613936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5009000B-F62C-7CEF-51CD-A46DB808EE67}"/>
              </a:ext>
            </a:extLst>
          </p:cNvPr>
          <p:cNvCxnSpPr>
            <a:cxnSpLocks/>
            <a:stCxn id="202" idx="0"/>
            <a:endCxn id="214" idx="2"/>
          </p:cNvCxnSpPr>
          <p:nvPr/>
        </p:nvCxnSpPr>
        <p:spPr>
          <a:xfrm flipH="1" flipV="1">
            <a:off x="2475688" y="6106984"/>
            <a:ext cx="253139" cy="152025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201">
            <a:extLst>
              <a:ext uri="{FF2B5EF4-FFF2-40B4-BE49-F238E27FC236}">
                <a16:creationId xmlns:a16="http://schemas.microsoft.com/office/drawing/2014/main" id="{F9489DE7-F03F-46E9-5D34-7C90412D14EA}"/>
              </a:ext>
            </a:extLst>
          </p:cNvPr>
          <p:cNvSpPr/>
          <p:nvPr/>
        </p:nvSpPr>
        <p:spPr>
          <a:xfrm>
            <a:off x="2593679" y="6259009"/>
            <a:ext cx="270295" cy="270295"/>
          </a:xfrm>
          <a:prstGeom prst="ellipse">
            <a:avLst/>
          </a:prstGeom>
          <a:solidFill>
            <a:srgbClr val="FFFFFF">
              <a:alpha val="89804"/>
            </a:srgbClr>
          </a:solidFill>
          <a:ln w="6350">
            <a:solidFill>
              <a:srgbClr val="2F3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1A523D98-F002-09C6-172E-E42BE4CB3024}"/>
              </a:ext>
            </a:extLst>
          </p:cNvPr>
          <p:cNvCxnSpPr>
            <a:cxnSpLocks/>
            <a:stCxn id="200" idx="7"/>
            <a:endCxn id="214" idx="2"/>
          </p:cNvCxnSpPr>
          <p:nvPr/>
        </p:nvCxnSpPr>
        <p:spPr>
          <a:xfrm flipV="1">
            <a:off x="2194236" y="6106984"/>
            <a:ext cx="281452" cy="116681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val 199">
            <a:extLst>
              <a:ext uri="{FF2B5EF4-FFF2-40B4-BE49-F238E27FC236}">
                <a16:creationId xmlns:a16="http://schemas.microsoft.com/office/drawing/2014/main" id="{A7E89587-5BE4-27CF-E2F3-F6ABE8DFB8AE}"/>
              </a:ext>
            </a:extLst>
          </p:cNvPr>
          <p:cNvSpPr/>
          <p:nvPr/>
        </p:nvSpPr>
        <p:spPr>
          <a:xfrm>
            <a:off x="1974261" y="6185923"/>
            <a:ext cx="257717" cy="257717"/>
          </a:xfrm>
          <a:prstGeom prst="ellipse">
            <a:avLst/>
          </a:prstGeom>
          <a:solidFill>
            <a:srgbClr val="FFFFFF">
              <a:alpha val="89804"/>
            </a:srgbClr>
          </a:solidFill>
          <a:ln w="6350">
            <a:solidFill>
              <a:srgbClr val="2F3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B75A54A6-ADD5-A87A-73D4-77C3EB8DF164}"/>
              </a:ext>
            </a:extLst>
          </p:cNvPr>
          <p:cNvCxnSpPr>
            <a:cxnSpLocks/>
            <a:stCxn id="208" idx="3"/>
          </p:cNvCxnSpPr>
          <p:nvPr/>
        </p:nvCxnSpPr>
        <p:spPr>
          <a:xfrm flipH="1">
            <a:off x="1188720" y="6251894"/>
            <a:ext cx="532874" cy="50011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70FBDB7-B22F-A6A9-F9F2-F37709A3DE4E}"/>
              </a:ext>
            </a:extLst>
          </p:cNvPr>
          <p:cNvCxnSpPr>
            <a:cxnSpLocks/>
            <a:stCxn id="206" idx="0"/>
          </p:cNvCxnSpPr>
          <p:nvPr/>
        </p:nvCxnSpPr>
        <p:spPr>
          <a:xfrm flipH="1" flipV="1">
            <a:off x="1188720" y="6776542"/>
            <a:ext cx="181092" cy="516044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Oval 205">
            <a:extLst>
              <a:ext uri="{FF2B5EF4-FFF2-40B4-BE49-F238E27FC236}">
                <a16:creationId xmlns:a16="http://schemas.microsoft.com/office/drawing/2014/main" id="{FCB70981-94E4-5EEC-2240-4F22126DC38F}"/>
              </a:ext>
            </a:extLst>
          </p:cNvPr>
          <p:cNvSpPr/>
          <p:nvPr/>
        </p:nvSpPr>
        <p:spPr>
          <a:xfrm>
            <a:off x="1263461" y="7292586"/>
            <a:ext cx="212702" cy="212702"/>
          </a:xfrm>
          <a:prstGeom prst="ellipse">
            <a:avLst/>
          </a:prstGeom>
          <a:solidFill>
            <a:srgbClr val="FFFFFF">
              <a:alpha val="89804"/>
            </a:srgbClr>
          </a:solidFill>
          <a:ln w="6350">
            <a:solidFill>
              <a:srgbClr val="2F3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B28A9F71-0F79-3FE8-28F6-E5AAFFBB3C83}"/>
              </a:ext>
            </a:extLst>
          </p:cNvPr>
          <p:cNvSpPr/>
          <p:nvPr/>
        </p:nvSpPr>
        <p:spPr>
          <a:xfrm>
            <a:off x="1690445" y="6070341"/>
            <a:ext cx="212702" cy="212702"/>
          </a:xfrm>
          <a:prstGeom prst="ellipse">
            <a:avLst/>
          </a:prstGeom>
          <a:solidFill>
            <a:srgbClr val="FFFFFF">
              <a:alpha val="89804"/>
            </a:srgbClr>
          </a:solidFill>
          <a:ln w="6350">
            <a:solidFill>
              <a:srgbClr val="2F3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91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189</TotalTime>
  <Words>376</Words>
  <Application>Microsoft Office PowerPoint</Application>
  <PresentationFormat>Custom</PresentationFormat>
  <Paragraphs>72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APK Galeria</vt:lpstr>
      <vt:lpstr>Arial</vt:lpstr>
      <vt:lpstr>Calibri</vt:lpstr>
      <vt:lpstr>Calibri Light</vt:lpstr>
      <vt:lpstr>IBM Plex Mono</vt:lpstr>
      <vt:lpstr>Office 2013 - 2022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Nicole Shevchenko</cp:lastModifiedBy>
  <cp:revision>3</cp:revision>
  <dcterms:created xsi:type="dcterms:W3CDTF">2026-06-17T10:15:08Z</dcterms:created>
  <dcterms:modified xsi:type="dcterms:W3CDTF">2026-06-17T13:25:44Z</dcterms:modified>
</cp:coreProperties>
</file>