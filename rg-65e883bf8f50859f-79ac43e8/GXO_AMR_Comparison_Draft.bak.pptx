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sldIdLst>
    <p:sldId id="266" r:id="rId5"/>
    <p:sldId id="265" r:id="rId6"/>
    <p:sldId id="267" r:id="rId7"/>
    <p:sldId id="268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2E8744-3F18-E1A6-A307-BF98B51E1C54}" v="651" dt="2026-05-13T12:52:38.793"/>
    <p1510:client id="{FD922B9B-7395-41A7-3B9B-45E4C943E156}" v="8" dt="2026-05-13T12:53:52.2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2"/>
    <p:restoredTop sz="94666"/>
  </p:normalViewPr>
  <p:slideViewPr>
    <p:cSldViewPr snapToGrid="0">
      <p:cViewPr varScale="1">
        <p:scale>
          <a:sx n="128" d="100"/>
          <a:sy n="128" d="100"/>
        </p:scale>
        <p:origin x="9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7475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7CE0B-5213-5E28-3015-13B8D7821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4F9CFD-C039-F9C3-1E68-28CAD09B59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DA26F-BE2B-DF4D-A107-89EA70C10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062D6-9DA3-775E-7DD8-CEE2EE7041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3575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BD225-7D60-496D-FE20-1BE12504C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3FB07-5DF6-B48E-9193-665A89209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541C00-78A3-7CEF-6240-2B9AA64E6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5B2E4-3C35-BE46-D47F-EA30F8C1CD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3596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194DD-5910-FF6B-C59C-9C151E59D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96020C-6D23-B0FF-EF76-22EBDEED33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C0AD21-4BBA-255E-7109-D98BED528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7E27A-109A-EC6D-8CAE-74A0E13433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34841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5252E-5D02-0C60-01D1-A737D19C8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5E9677-F9B0-D30E-FB33-742EFACC10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06CD2-EB22-8CC6-8CCD-E6ABD232A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920C7-4084-4A48-564B-99AE235E69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8834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3FEFC-348E-20E0-4F1A-5239DD04D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1">
            <a:extLst>
              <a:ext uri="{FF2B5EF4-FFF2-40B4-BE49-F238E27FC236}">
                <a16:creationId xmlns:a16="http://schemas.microsoft.com/office/drawing/2014/main" id="{44BD5E8C-4E31-8079-9760-DE27C9EFA51B}"/>
              </a:ext>
            </a:extLst>
          </p:cNvPr>
          <p:cNvSpPr/>
          <p:nvPr/>
        </p:nvSpPr>
        <p:spPr>
          <a:xfrm>
            <a:off x="4133088" y="365760"/>
            <a:ext cx="3566160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B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858886DD-2B03-8668-4B27-467CF2322110}"/>
              </a:ext>
            </a:extLst>
          </p:cNvPr>
          <p:cNvSpPr/>
          <p:nvPr/>
        </p:nvSpPr>
        <p:spPr>
          <a:xfrm>
            <a:off x="365760" y="137160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800" b="1" kern="0" spc="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2. FUNCTIONALITY COMPARISON</a:t>
            </a:r>
            <a:r>
              <a:rPr kumimoji="0" lang="en-US" sz="800" b="1" i="0" u="none" strike="noStrike" kern="0" cap="none" spc="20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— </a:t>
            </a:r>
            <a:r>
              <a:rPr lang="en-US" sz="800" b="1" kern="0" spc="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GXO</a:t>
            </a:r>
            <a:r>
              <a:rPr kumimoji="0" lang="en-US" sz="800" b="1" i="0" u="none" strike="noStrike" kern="0" cap="none" spc="20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lang="en-US" sz="800" b="1" kern="0" spc="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AMR</a:t>
            </a:r>
            <a:endParaRPr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89117BC-C564-AD17-AB84-B44ED7DDE4F6}"/>
              </a:ext>
            </a:extLst>
          </p:cNvPr>
          <p:cNvSpPr/>
          <p:nvPr/>
        </p:nvSpPr>
        <p:spPr>
          <a:xfrm>
            <a:off x="365760" y="365760"/>
            <a:ext cx="3566160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B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AC28FC1-995E-E288-129A-60DE3F64FB92}"/>
              </a:ext>
            </a:extLst>
          </p:cNvPr>
          <p:cNvSpPr/>
          <p:nvPr/>
        </p:nvSpPr>
        <p:spPr>
          <a:xfrm>
            <a:off x="4296390" y="526093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FDF3E0"/>
          </a:solidFill>
          <a:ln w="12700">
            <a:solidFill>
              <a:srgbClr val="FDF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AA0B0EF-5869-A132-6932-6C85F6FDF852}"/>
              </a:ext>
            </a:extLst>
          </p:cNvPr>
          <p:cNvSpPr/>
          <p:nvPr/>
        </p:nvSpPr>
        <p:spPr>
          <a:xfrm>
            <a:off x="4295983" y="52405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800" b="1">
                <a:solidFill>
                  <a:srgbClr val="7F5500"/>
                </a:solidFill>
                <a:latin typeface="Calibri" panose="020F0502020204030204"/>
                <a:ea typeface="Calibri"/>
                <a:cs typeface="Calibri"/>
              </a:rPr>
              <a:t>TOYOTA/LINDE AMR</a:t>
            </a:r>
            <a:endParaRPr lang="en-US" sz="800" b="1" i="0" u="none" strike="noStrike" kern="1200" cap="none" spc="0" normalizeH="0" baseline="0" noProof="0" dirty="0">
              <a:ln>
                <a:noFill/>
              </a:ln>
              <a:solidFill>
                <a:srgbClr val="7F55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80315C3-8A05-721B-E72B-D7504494B26C}"/>
              </a:ext>
            </a:extLst>
          </p:cNvPr>
          <p:cNvSpPr/>
          <p:nvPr/>
        </p:nvSpPr>
        <p:spPr>
          <a:xfrm>
            <a:off x="530352" y="777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endParaRPr lang="en-US" sz="1300" b="1" dirty="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7C2BDD7-2047-675E-F18B-C70F4274261C}"/>
              </a:ext>
            </a:extLst>
          </p:cNvPr>
          <p:cNvSpPr/>
          <p:nvPr/>
        </p:nvSpPr>
        <p:spPr>
          <a:xfrm>
            <a:off x="530352" y="10698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00" b="0" i="0" u="none" strike="noStrike" kern="1200" cap="none" spc="0" normalizeH="0" baseline="0" noProof="0" dirty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1E8D269-39F6-E03E-92C0-0BBF5101C355}"/>
              </a:ext>
            </a:extLst>
          </p:cNvPr>
          <p:cNvSpPr/>
          <p:nvPr/>
        </p:nvSpPr>
        <p:spPr>
          <a:xfrm>
            <a:off x="530352" y="15087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083BB89-94A5-0F73-C13A-806C8FE29D62}"/>
              </a:ext>
            </a:extLst>
          </p:cNvPr>
          <p:cNvSpPr/>
          <p:nvPr/>
        </p:nvSpPr>
        <p:spPr>
          <a:xfrm>
            <a:off x="530352" y="1847088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solidFill>
                  <a:srgbClr val="1A1A1A"/>
                </a:solidFill>
                <a:latin typeface="Calibri" panose="020F0502020204030204"/>
                <a:ea typeface="Calibri"/>
                <a:cs typeface="Calibri"/>
              </a:rPr>
              <a:t>Picking &amp; Placing - horizontal   </a:t>
            </a:r>
            <a:endParaRPr lang="en-US" sz="900" dirty="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6917ACF-A350-5F5C-5131-A6AE7DC26F14}"/>
              </a:ext>
            </a:extLst>
          </p:cNvPr>
          <p:cNvSpPr/>
          <p:nvPr/>
        </p:nvSpPr>
        <p:spPr>
          <a:xfrm>
            <a:off x="530352" y="20848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E512C82-FC14-6B90-BE05-9A61248327F9}"/>
              </a:ext>
            </a:extLst>
          </p:cNvPr>
          <p:cNvSpPr/>
          <p:nvPr/>
        </p:nvSpPr>
        <p:spPr>
          <a:xfrm>
            <a:off x="4408805" y="568833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b="1" i="0" u="none" strike="noStrike" kern="1200" cap="none" spc="0" normalizeH="0" baseline="0" noProof="0" dirty="0">
              <a:ln>
                <a:noFill/>
              </a:ln>
              <a:solidFill>
                <a:srgbClr val="3C3489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3AA1B1C-8396-5B0A-AA80-480322021DEF}"/>
              </a:ext>
            </a:extLst>
          </p:cNvPr>
          <p:cNvSpPr/>
          <p:nvPr/>
        </p:nvSpPr>
        <p:spPr>
          <a:xfrm>
            <a:off x="4297680" y="777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3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T1 OEM AMR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15A10E3-0659-2998-7CD9-967F597997C3}"/>
              </a:ext>
            </a:extLst>
          </p:cNvPr>
          <p:cNvSpPr/>
          <p:nvPr/>
        </p:nvSpPr>
        <p:spPr>
          <a:xfrm>
            <a:off x="4297680" y="10698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00" b="0" i="0" u="none" strike="noStrike" kern="1200" cap="none" spc="0" normalizeH="0" baseline="0" noProof="0" dirty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DB03C5D-ACC8-4FC5-B77C-A2F9B0712D6D}"/>
              </a:ext>
            </a:extLst>
          </p:cNvPr>
          <p:cNvSpPr/>
          <p:nvPr/>
        </p:nvSpPr>
        <p:spPr>
          <a:xfrm>
            <a:off x="4297680" y="15087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D3BA45E-C9AB-31E4-579C-AB7F18B293A5}"/>
              </a:ext>
            </a:extLst>
          </p:cNvPr>
          <p:cNvSpPr/>
          <p:nvPr/>
        </p:nvSpPr>
        <p:spPr>
          <a:xfrm>
            <a:off x="4297680" y="1847088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latin typeface="Calibri"/>
                <a:ea typeface="Calibri"/>
                <a:cs typeface="Calibri"/>
              </a:rPr>
              <a:t>1.5 times slower – 70% efficiency  </a:t>
            </a:r>
            <a:endParaRPr lang="en-US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5662526-7A08-D072-8E86-5127B776AC4F}"/>
              </a:ext>
            </a:extLst>
          </p:cNvPr>
          <p:cNvSpPr/>
          <p:nvPr/>
        </p:nvSpPr>
        <p:spPr>
          <a:xfrm>
            <a:off x="4297680" y="20848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6B9A9FC-4FE2-A55B-7DE2-2C74BBECD14B}"/>
              </a:ext>
            </a:extLst>
          </p:cNvPr>
          <p:cNvSpPr/>
          <p:nvPr/>
        </p:nvSpPr>
        <p:spPr>
          <a:xfrm>
            <a:off x="7900416" y="352044"/>
            <a:ext cx="3730752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19AD6144-954A-3D09-4187-820784EE40B4}"/>
              </a:ext>
            </a:extLst>
          </p:cNvPr>
          <p:cNvSpPr/>
          <p:nvPr/>
        </p:nvSpPr>
        <p:spPr>
          <a:xfrm>
            <a:off x="8046720" y="521208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27851EB-7587-DC21-3D5D-9B8DC319DA03}"/>
              </a:ext>
            </a:extLst>
          </p:cNvPr>
          <p:cNvSpPr/>
          <p:nvPr/>
        </p:nvSpPr>
        <p:spPr>
          <a:xfrm>
            <a:off x="8046720" y="521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C447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Hive Autonomy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34243231-5E4F-F291-59DD-2A0579B0ACF6}"/>
              </a:ext>
            </a:extLst>
          </p:cNvPr>
          <p:cNvSpPr/>
          <p:nvPr/>
        </p:nvSpPr>
        <p:spPr>
          <a:xfrm>
            <a:off x="8046720" y="7772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autonomous ops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38205421-7DF8-C938-A1E0-D8E422479E65}"/>
              </a:ext>
            </a:extLst>
          </p:cNvPr>
          <p:cNvSpPr/>
          <p:nvPr/>
        </p:nvSpPr>
        <p:spPr>
          <a:xfrm>
            <a:off x="8046720" y="1508760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5C682473-CFDD-A6E0-95E8-5D9A2A756F4F}"/>
              </a:ext>
            </a:extLst>
          </p:cNvPr>
          <p:cNvSpPr/>
          <p:nvPr/>
        </p:nvSpPr>
        <p:spPr>
          <a:xfrm>
            <a:off x="8046720" y="1847088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 dirty="0">
                <a:latin typeface="Calibri"/>
                <a:ea typeface="Calibri"/>
                <a:cs typeface="Calibri"/>
              </a:rPr>
              <a:t>Same as Human – 100% </a:t>
            </a:r>
            <a:r>
              <a:rPr lang="en-US" sz="900">
                <a:latin typeface="Calibri"/>
                <a:ea typeface="Calibri"/>
                <a:cs typeface="Calibri"/>
              </a:rPr>
              <a:t>efficiency</a:t>
            </a:r>
            <a:r>
              <a:rPr lang="en-US" sz="900" dirty="0">
                <a:latin typeface="Calibri"/>
                <a:ea typeface="Calibri"/>
                <a:cs typeface="Calibri"/>
              </a:rPr>
              <a:t> </a:t>
            </a:r>
            <a:endParaRPr lang="en-US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C5CDE8C6-C0F5-7581-3788-19FC267D0668}"/>
              </a:ext>
            </a:extLst>
          </p:cNvPr>
          <p:cNvSpPr/>
          <p:nvPr/>
        </p:nvSpPr>
        <p:spPr>
          <a:xfrm>
            <a:off x="8046720" y="20848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F86D4E9-CFB6-342B-C521-2E01061384C7}"/>
              </a:ext>
            </a:extLst>
          </p:cNvPr>
          <p:cNvSpPr/>
          <p:nvPr/>
        </p:nvSpPr>
        <p:spPr>
          <a:xfrm>
            <a:off x="530352" y="2144522"/>
            <a:ext cx="2737175" cy="248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Picking &amp; Placing – at Height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45D5E366-46A3-25DE-C33C-F5B36A7EFC2B}"/>
              </a:ext>
            </a:extLst>
          </p:cNvPr>
          <p:cNvSpPr/>
          <p:nvPr/>
        </p:nvSpPr>
        <p:spPr>
          <a:xfrm>
            <a:off x="2537277" y="2176272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0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64A2D3EB-1C5C-2B50-93B6-70C2299B651E}"/>
              </a:ext>
            </a:extLst>
          </p:cNvPr>
          <p:cNvSpPr/>
          <p:nvPr/>
        </p:nvSpPr>
        <p:spPr>
          <a:xfrm>
            <a:off x="4297680" y="2176272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N/A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152752EB-A26E-5333-AD24-860B821DE0C7}"/>
              </a:ext>
            </a:extLst>
          </p:cNvPr>
          <p:cNvSpPr/>
          <p:nvPr/>
        </p:nvSpPr>
        <p:spPr>
          <a:xfrm>
            <a:off x="8046720" y="2229189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Same as Human – 100% efficiency; reduced safety &amp; damage risk 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CBDC5028-D9DC-698D-C0CC-F34F9625F685}"/>
              </a:ext>
            </a:extLst>
          </p:cNvPr>
          <p:cNvSpPr/>
          <p:nvPr/>
        </p:nvSpPr>
        <p:spPr>
          <a:xfrm>
            <a:off x="10155692" y="2176272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00" b="1" i="0" u="none" strike="noStrike" kern="1200" cap="none" spc="0" normalizeH="0" baseline="0" noProof="0" dirty="0">
              <a:ln>
                <a:noFill/>
              </a:ln>
              <a:solidFill>
                <a:srgbClr val="27500A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11F8FFB5-8AC0-BEE9-254F-181FDB3C32DC}"/>
              </a:ext>
            </a:extLst>
          </p:cNvPr>
          <p:cNvSpPr/>
          <p:nvPr/>
        </p:nvSpPr>
        <p:spPr>
          <a:xfrm>
            <a:off x="530352" y="24323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7E8AA8D9-7121-F4A0-2246-544A54D0A597}"/>
              </a:ext>
            </a:extLst>
          </p:cNvPr>
          <p:cNvSpPr/>
          <p:nvPr/>
        </p:nvSpPr>
        <p:spPr>
          <a:xfrm>
            <a:off x="4297680" y="24323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8DB83EB7-1B83-3AC0-CEE1-4BBF52453EF6}"/>
              </a:ext>
            </a:extLst>
          </p:cNvPr>
          <p:cNvSpPr/>
          <p:nvPr/>
        </p:nvSpPr>
        <p:spPr>
          <a:xfrm>
            <a:off x="8101584" y="2432304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0307FDBF-CF5A-56AA-5F56-041E48BCBA7C}"/>
              </a:ext>
            </a:extLst>
          </p:cNvPr>
          <p:cNvSpPr/>
          <p:nvPr/>
        </p:nvSpPr>
        <p:spPr>
          <a:xfrm>
            <a:off x="530352" y="2514600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solidFill>
                  <a:srgbClr val="1A1A1A"/>
                </a:solidFill>
                <a:latin typeface="Calibri" panose="020F0502020204030204"/>
                <a:ea typeface="Calibri"/>
                <a:cs typeface="Calibri"/>
              </a:rPr>
              <a:t>Positioning for Picking &amp; Placing </a:t>
            </a:r>
            <a:endParaRPr lang="en-US" sz="9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4E6A6C69-14FB-891C-6A7C-42BD2A313F8F}"/>
              </a:ext>
            </a:extLst>
          </p:cNvPr>
          <p:cNvSpPr/>
          <p:nvPr/>
        </p:nvSpPr>
        <p:spPr>
          <a:xfrm>
            <a:off x="4297680" y="2514600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1.5 times slower – 70% efficiency  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3F131C4A-1A3E-8B7E-6893-628B5A798F56}"/>
              </a:ext>
            </a:extLst>
          </p:cNvPr>
          <p:cNvSpPr/>
          <p:nvPr/>
        </p:nvSpPr>
        <p:spPr>
          <a:xfrm>
            <a:off x="8046720" y="2514600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Same as Human – 100% efficiency 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8775AE6C-3F8B-3985-D5D1-3EE189C5B31A}"/>
              </a:ext>
            </a:extLst>
          </p:cNvPr>
          <p:cNvSpPr/>
          <p:nvPr/>
        </p:nvSpPr>
        <p:spPr>
          <a:xfrm>
            <a:off x="10155692" y="2514600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CDA8E45F-5B66-75CE-306D-2974F33EBC91}"/>
              </a:ext>
            </a:extLst>
          </p:cNvPr>
          <p:cNvSpPr/>
          <p:nvPr/>
        </p:nvSpPr>
        <p:spPr>
          <a:xfrm>
            <a:off x="530352" y="2770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4A2079D9-D2DA-ECC1-9FED-8898A4E33BB3}"/>
              </a:ext>
            </a:extLst>
          </p:cNvPr>
          <p:cNvSpPr/>
          <p:nvPr/>
        </p:nvSpPr>
        <p:spPr>
          <a:xfrm>
            <a:off x="4297680" y="2770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1D792CC6-7F63-BCDE-82AB-2DFEFDB6FAF4}"/>
              </a:ext>
            </a:extLst>
          </p:cNvPr>
          <p:cNvSpPr/>
          <p:nvPr/>
        </p:nvSpPr>
        <p:spPr>
          <a:xfrm>
            <a:off x="8046720" y="27706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A47271D5-2C45-036C-36BD-CE22AA684465}"/>
              </a:ext>
            </a:extLst>
          </p:cNvPr>
          <p:cNvSpPr/>
          <p:nvPr/>
        </p:nvSpPr>
        <p:spPr>
          <a:xfrm>
            <a:off x="530352" y="2826470"/>
            <a:ext cx="2731883" cy="243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solidFill>
                  <a:srgbClr val="1A1A1A"/>
                </a:solidFill>
                <a:latin typeface="Calibri" panose="020F0502020204030204"/>
                <a:ea typeface="Calibri"/>
                <a:cs typeface="Calibri"/>
              </a:rPr>
              <a:t>Point-to-point movement – indoor, open travel aisles</a:t>
            </a:r>
            <a:endParaRPr lang="en-US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B793F0E5-CA20-0519-EAEF-DEE19F65B898}"/>
              </a:ext>
            </a:extLst>
          </p:cNvPr>
          <p:cNvSpPr/>
          <p:nvPr/>
        </p:nvSpPr>
        <p:spPr>
          <a:xfrm>
            <a:off x="4297680" y="2852928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 dirty="0">
                <a:solidFill>
                  <a:srgbClr val="1A1A1A"/>
                </a:solidFill>
                <a:latin typeface="Calibri" panose="020F0502020204030204"/>
                <a:ea typeface="Calibri"/>
                <a:cs typeface="Calibri"/>
              </a:rPr>
              <a:t>8 km/h</a:t>
            </a:r>
            <a:endParaRPr lang="en-US" sz="9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90605710-2FED-1370-A249-86C67B558C9E}"/>
              </a:ext>
            </a:extLst>
          </p:cNvPr>
          <p:cNvSpPr/>
          <p:nvPr/>
        </p:nvSpPr>
        <p:spPr>
          <a:xfrm>
            <a:off x="8046720" y="2852928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 dirty="0">
                <a:solidFill>
                  <a:srgbClr val="1A1A1A"/>
                </a:solidFill>
                <a:latin typeface="Calibri" panose="020F0502020204030204"/>
                <a:ea typeface="Calibri"/>
                <a:cs typeface="Calibri"/>
              </a:rPr>
              <a:t>16 km/h</a:t>
            </a:r>
            <a:endParaRPr lang="en-US" sz="9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66892831-6A1B-17F7-92ED-4AA76D1CB909}"/>
              </a:ext>
            </a:extLst>
          </p:cNvPr>
          <p:cNvSpPr/>
          <p:nvPr/>
        </p:nvSpPr>
        <p:spPr>
          <a:xfrm>
            <a:off x="530352" y="31089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649F457D-745D-6755-9257-BA7BCEF7495D}"/>
              </a:ext>
            </a:extLst>
          </p:cNvPr>
          <p:cNvSpPr/>
          <p:nvPr/>
        </p:nvSpPr>
        <p:spPr>
          <a:xfrm>
            <a:off x="4297680" y="31089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9855EB29-6D5E-C905-A878-054348D96664}"/>
              </a:ext>
            </a:extLst>
          </p:cNvPr>
          <p:cNvSpPr/>
          <p:nvPr/>
        </p:nvSpPr>
        <p:spPr>
          <a:xfrm>
            <a:off x="8046720" y="3108960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A9042845-63E2-C348-2A3A-35B6684D6AF7}"/>
              </a:ext>
            </a:extLst>
          </p:cNvPr>
          <p:cNvSpPr/>
          <p:nvPr/>
        </p:nvSpPr>
        <p:spPr>
          <a:xfrm>
            <a:off x="530352" y="3265339"/>
            <a:ext cx="3012341" cy="16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Point-to-point movement – indoor, mixed traffic zone 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59EA2581-0CC5-D1E2-364F-79C615514F24}"/>
              </a:ext>
            </a:extLst>
          </p:cNvPr>
          <p:cNvSpPr/>
          <p:nvPr/>
        </p:nvSpPr>
        <p:spPr>
          <a:xfrm>
            <a:off x="4297680" y="3191256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8 km/h</a:t>
            </a:r>
            <a:endParaRPr lang="en-US" dirty="0"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741CAE8F-9D4F-E3A3-6114-B55A67D0E32C}"/>
              </a:ext>
            </a:extLst>
          </p:cNvPr>
          <p:cNvSpPr/>
          <p:nvPr/>
        </p:nvSpPr>
        <p:spPr>
          <a:xfrm>
            <a:off x="8046720" y="3191256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8 km/h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92271C7C-17E8-528A-C0D2-3F93CBB02D04}"/>
              </a:ext>
            </a:extLst>
          </p:cNvPr>
          <p:cNvSpPr/>
          <p:nvPr/>
        </p:nvSpPr>
        <p:spPr>
          <a:xfrm>
            <a:off x="530352" y="3447288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C23EEC06-C618-1C57-BEC9-DADCB4AA8C6C}"/>
              </a:ext>
            </a:extLst>
          </p:cNvPr>
          <p:cNvSpPr/>
          <p:nvPr/>
        </p:nvSpPr>
        <p:spPr>
          <a:xfrm>
            <a:off x="4297680" y="3447288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AFEEE79B-5178-E58B-6364-30FCC6CAF027}"/>
              </a:ext>
            </a:extLst>
          </p:cNvPr>
          <p:cNvSpPr/>
          <p:nvPr/>
        </p:nvSpPr>
        <p:spPr>
          <a:xfrm>
            <a:off x="8046720" y="3447288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2A9378E7-1234-2030-1BBF-3F994EF14BF0}"/>
              </a:ext>
            </a:extLst>
          </p:cNvPr>
          <p:cNvSpPr/>
          <p:nvPr/>
        </p:nvSpPr>
        <p:spPr>
          <a:xfrm>
            <a:off x="530352" y="3503126"/>
            <a:ext cx="2472591" cy="227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 dirty="0">
                <a:solidFill>
                  <a:srgbClr val="1A1A1A"/>
                </a:solidFill>
                <a:latin typeface="Calibri" panose="020F0502020204030204"/>
                <a:ea typeface="Calibri"/>
                <a:cs typeface="Calibri"/>
              </a:rPr>
              <a:t>Point-to-point </a:t>
            </a:r>
            <a:r>
              <a:rPr lang="en-US" sz="900">
                <a:solidFill>
                  <a:srgbClr val="1A1A1A"/>
                </a:solidFill>
                <a:latin typeface="Calibri" panose="020F0502020204030204"/>
                <a:ea typeface="Calibri"/>
                <a:cs typeface="Calibri"/>
              </a:rPr>
              <a:t>movement – indoor, confined zones </a:t>
            </a:r>
            <a:endParaRPr lang="en-US" sz="9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772F59C4-5179-0643-98AB-A9EF86C819FD}"/>
              </a:ext>
            </a:extLst>
          </p:cNvPr>
          <p:cNvSpPr/>
          <p:nvPr/>
        </p:nvSpPr>
        <p:spPr>
          <a:xfrm>
            <a:off x="4297680" y="3529584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8 km/h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6B3AE774-E247-8C49-8917-8002F2BA5651}"/>
              </a:ext>
            </a:extLst>
          </p:cNvPr>
          <p:cNvSpPr/>
          <p:nvPr/>
        </p:nvSpPr>
        <p:spPr>
          <a:xfrm>
            <a:off x="8046720" y="3529584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16 km/h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711DE115-FEED-EEB1-7346-5E0D80FE9204}"/>
              </a:ext>
            </a:extLst>
          </p:cNvPr>
          <p:cNvSpPr/>
          <p:nvPr/>
        </p:nvSpPr>
        <p:spPr>
          <a:xfrm>
            <a:off x="530352" y="3913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656BA59D-0D86-A67B-8CD2-00F60264BDE8}"/>
              </a:ext>
            </a:extLst>
          </p:cNvPr>
          <p:cNvSpPr/>
          <p:nvPr/>
        </p:nvSpPr>
        <p:spPr>
          <a:xfrm>
            <a:off x="4297680" y="3913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9D6C5D40-EECB-CC36-2A7F-5952338F4D35}"/>
              </a:ext>
            </a:extLst>
          </p:cNvPr>
          <p:cNvSpPr/>
          <p:nvPr/>
        </p:nvSpPr>
        <p:spPr>
          <a:xfrm>
            <a:off x="8046720" y="39136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7E43AF93-7E11-BBBF-F0AB-782FE893211F}"/>
              </a:ext>
            </a:extLst>
          </p:cNvPr>
          <p:cNvSpPr/>
          <p:nvPr/>
        </p:nvSpPr>
        <p:spPr>
          <a:xfrm>
            <a:off x="530352" y="3965618"/>
            <a:ext cx="2764587" cy="255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0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Point-to-point </a:t>
            </a:r>
            <a:r>
              <a:rPr lang="en-US" sz="1000" b="1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mo</a:t>
            </a:r>
            <a:r>
              <a:rPr lang="en-US" sz="10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vement – outdoor, open yard 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83158A5A-FA6A-8AF9-095C-DF091DF2B6DA}"/>
              </a:ext>
            </a:extLst>
          </p:cNvPr>
          <p:cNvSpPr/>
          <p:nvPr/>
        </p:nvSpPr>
        <p:spPr>
          <a:xfrm>
            <a:off x="2310689" y="3986784"/>
            <a:ext cx="14566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100" b="1" i="0" u="none" strike="noStrike" kern="1200" cap="none" spc="0" normalizeH="0" baseline="0" noProof="0" dirty="0">
              <a:ln>
                <a:noFill/>
              </a:ln>
              <a:solidFill>
                <a:srgbClr val="854F0B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6DAF0D57-015F-56E6-E1CE-42FA197423C7}"/>
              </a:ext>
            </a:extLst>
          </p:cNvPr>
          <p:cNvSpPr/>
          <p:nvPr/>
        </p:nvSpPr>
        <p:spPr>
          <a:xfrm>
            <a:off x="4297680" y="3986784"/>
            <a:ext cx="17803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N/A</a:t>
            </a:r>
            <a:endParaRPr lang="en-US" sz="1000" b="1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F8369402-1AB9-B6C9-A7E2-5D53BAB456FF}"/>
              </a:ext>
            </a:extLst>
          </p:cNvPr>
          <p:cNvSpPr/>
          <p:nvPr/>
        </p:nvSpPr>
        <p:spPr>
          <a:xfrm>
            <a:off x="8046720" y="3986784"/>
            <a:ext cx="18708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0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20 km/h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AD5A5500-6ECE-1671-9663-58DC078D7846}"/>
              </a:ext>
            </a:extLst>
          </p:cNvPr>
          <p:cNvSpPr/>
          <p:nvPr/>
        </p:nvSpPr>
        <p:spPr>
          <a:xfrm>
            <a:off x="530352" y="42611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3082618E-B8B9-3E98-2BFC-9F03FFBC3CDF}"/>
              </a:ext>
            </a:extLst>
          </p:cNvPr>
          <p:cNvSpPr/>
          <p:nvPr/>
        </p:nvSpPr>
        <p:spPr>
          <a:xfrm>
            <a:off x="4297680" y="42611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64391A6E-36A7-64A5-A0D3-0D4B2A1EE9C7}"/>
              </a:ext>
            </a:extLst>
          </p:cNvPr>
          <p:cNvSpPr/>
          <p:nvPr/>
        </p:nvSpPr>
        <p:spPr>
          <a:xfrm>
            <a:off x="8046720" y="4261104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6C252157-119D-3C78-0795-553FC21610B2}"/>
              </a:ext>
            </a:extLst>
          </p:cNvPr>
          <p:cNvSpPr/>
          <p:nvPr/>
        </p:nvSpPr>
        <p:spPr>
          <a:xfrm>
            <a:off x="530352" y="4315968"/>
            <a:ext cx="20069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b="0" i="1" u="none" strike="noStrike" kern="1200" cap="none" spc="0" normalizeH="0" baseline="0" noProof="0" dirty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87" name="Text 85">
            <a:extLst>
              <a:ext uri="{FF2B5EF4-FFF2-40B4-BE49-F238E27FC236}">
                <a16:creationId xmlns:a16="http://schemas.microsoft.com/office/drawing/2014/main" id="{571269C2-4D23-7361-E334-EA3408FE6955}"/>
              </a:ext>
            </a:extLst>
          </p:cNvPr>
          <p:cNvSpPr/>
          <p:nvPr/>
        </p:nvSpPr>
        <p:spPr>
          <a:xfrm>
            <a:off x="2537277" y="4315968"/>
            <a:ext cx="12300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b="1" i="1" u="none" strike="noStrike" kern="1200" cap="none" spc="0" normalizeH="0" baseline="0" noProof="0" dirty="0">
              <a:ln>
                <a:noFill/>
              </a:ln>
              <a:solidFill>
                <a:srgbClr val="854F0B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C317CC0C-9220-9128-7957-6BF599230BC1}"/>
              </a:ext>
            </a:extLst>
          </p:cNvPr>
          <p:cNvSpPr/>
          <p:nvPr/>
        </p:nvSpPr>
        <p:spPr>
          <a:xfrm>
            <a:off x="532553" y="4469426"/>
            <a:ext cx="21089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400" b="1" i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Overall Efficiency 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BBF1B24E-B5A8-F6B1-18C6-D741E04BF580}"/>
              </a:ext>
            </a:extLst>
          </p:cNvPr>
          <p:cNvSpPr/>
          <p:nvPr/>
        </p:nvSpPr>
        <p:spPr>
          <a:xfrm>
            <a:off x="365760" y="653796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1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List price basis: €65,000/unit (arculee M / EAE 212a — industry estimate) · Standard lease: €750/unit/month · 50% DHL Tier 1 discount applied throughout all line items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A16FAD-9F7B-0132-D9CB-0D7FC05CA1E5}"/>
              </a:ext>
            </a:extLst>
          </p:cNvPr>
          <p:cNvSpPr txBox="1"/>
          <p:nvPr/>
        </p:nvSpPr>
        <p:spPr>
          <a:xfrm>
            <a:off x="406237" y="1202428"/>
            <a:ext cx="1905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b="1" i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Operational</a:t>
            </a:r>
            <a:r>
              <a:rPr lang="en-GB">
                <a:ea typeface="Calibri"/>
                <a:cs typeface="Calibri"/>
              </a:rPr>
              <a:t> </a:t>
            </a:r>
            <a:r>
              <a:rPr lang="en-GB" sz="1400" b="1" i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speed</a:t>
            </a:r>
            <a:endParaRPr lang="en-GB" sz="1400" b="1" i="1" dirty="0">
              <a:solidFill>
                <a:srgbClr val="88888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Text 88">
            <a:extLst>
              <a:ext uri="{FF2B5EF4-FFF2-40B4-BE49-F238E27FC236}">
                <a16:creationId xmlns:a16="http://schemas.microsoft.com/office/drawing/2014/main" id="{83DD7A4D-223D-2BAA-3143-9A2BF23A27AD}"/>
              </a:ext>
            </a:extLst>
          </p:cNvPr>
          <p:cNvSpPr/>
          <p:nvPr/>
        </p:nvSpPr>
        <p:spPr>
          <a:xfrm>
            <a:off x="8099637" y="4548801"/>
            <a:ext cx="21089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i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%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94" name="Text 88">
            <a:extLst>
              <a:ext uri="{FF2B5EF4-FFF2-40B4-BE49-F238E27FC236}">
                <a16:creationId xmlns:a16="http://schemas.microsoft.com/office/drawing/2014/main" id="{BC4BA278-A726-7752-2988-A1D2FE32DA76}"/>
              </a:ext>
            </a:extLst>
          </p:cNvPr>
          <p:cNvSpPr/>
          <p:nvPr/>
        </p:nvSpPr>
        <p:spPr>
          <a:xfrm>
            <a:off x="4294928" y="4469426"/>
            <a:ext cx="21089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i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%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2219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B854D9-651B-1729-7A87-08AF4668A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69DB51F-B49C-3CBE-FC8B-3D18228C651C}"/>
              </a:ext>
            </a:extLst>
          </p:cNvPr>
          <p:cNvSpPr/>
          <p:nvPr/>
        </p:nvSpPr>
        <p:spPr>
          <a:xfrm>
            <a:off x="365760" y="137160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AutoNum type="arabicPeriod"/>
              <a:defRPr/>
            </a:pPr>
            <a:r>
              <a:rPr lang="en-US" sz="800" b="1" kern="0" spc="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COST COMPARISON</a:t>
            </a:r>
            <a:r>
              <a:rPr kumimoji="0" lang="en-US" sz="800" b="1" i="0" u="none" strike="noStrike" kern="0" cap="none" spc="20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— </a:t>
            </a:r>
            <a:r>
              <a:rPr lang="en-US" sz="800" b="1" kern="0" spc="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GXO</a:t>
            </a:r>
            <a:r>
              <a:rPr kumimoji="0" lang="en-US" sz="800" b="1" i="0" u="none" strike="noStrike" kern="0" cap="none" spc="20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lang="en-US" sz="800" b="1" kern="0" spc="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AMR</a:t>
            </a:r>
            <a:endParaRPr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DD313E8-E9BE-F293-B537-C08F87F8FEB0}"/>
              </a:ext>
            </a:extLst>
          </p:cNvPr>
          <p:cNvSpPr/>
          <p:nvPr/>
        </p:nvSpPr>
        <p:spPr>
          <a:xfrm>
            <a:off x="228600" y="489204"/>
            <a:ext cx="3566160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B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D7DF14A-841C-467B-242B-C47C9EBAA57A}"/>
              </a:ext>
            </a:extLst>
          </p:cNvPr>
          <p:cNvSpPr/>
          <p:nvPr/>
        </p:nvSpPr>
        <p:spPr>
          <a:xfrm>
            <a:off x="530352" y="521208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FDF3E0"/>
          </a:solidFill>
          <a:ln w="12700">
            <a:solidFill>
              <a:srgbClr val="FDF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17C28C5-CA7F-C084-412B-6CFCE0DA4327}"/>
              </a:ext>
            </a:extLst>
          </p:cNvPr>
          <p:cNvSpPr/>
          <p:nvPr/>
        </p:nvSpPr>
        <p:spPr>
          <a:xfrm>
            <a:off x="530352" y="521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7F55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Tier 1 · capex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04E5EE3-C0D8-1647-CD7B-D9027E921C48}"/>
              </a:ext>
            </a:extLst>
          </p:cNvPr>
          <p:cNvSpPr/>
          <p:nvPr/>
        </p:nvSpPr>
        <p:spPr>
          <a:xfrm>
            <a:off x="530352" y="777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Jungheinrich AMR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CAC85C1-4E2A-509B-5699-5C828133B9A6}"/>
              </a:ext>
            </a:extLst>
          </p:cNvPr>
          <p:cNvSpPr/>
          <p:nvPr/>
        </p:nvSpPr>
        <p:spPr>
          <a:xfrm>
            <a:off x="530352" y="10698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·10 units (mid-sized warehouse)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outright purchase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CBA8B9D-F385-F13C-F1E4-A2A0CD04857A}"/>
              </a:ext>
            </a:extLst>
          </p:cNvPr>
          <p:cNvSpPr/>
          <p:nvPr/>
        </p:nvSpPr>
        <p:spPr>
          <a:xfrm>
            <a:off x="530352" y="15087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C53134B-C2B2-2BA9-F36D-2ECFBEF295B3}"/>
              </a:ext>
            </a:extLst>
          </p:cNvPr>
          <p:cNvSpPr/>
          <p:nvPr/>
        </p:nvSpPr>
        <p:spPr>
          <a:xfrm>
            <a:off x="530352" y="15727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sng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€75,000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975DA56-FE27-8260-27EE-5E2C04552838}"/>
              </a:ext>
            </a:extLst>
          </p:cNvPr>
          <p:cNvSpPr/>
          <p:nvPr/>
        </p:nvSpPr>
        <p:spPr>
          <a:xfrm>
            <a:off x="1280160" y="15361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€37,500/125k (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balyo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47DF70B-F44E-B83C-CAFB-C290E7D6F98B}"/>
              </a:ext>
            </a:extLst>
          </p:cNvPr>
          <p:cNvSpPr/>
          <p:nvPr/>
        </p:nvSpPr>
        <p:spPr>
          <a:xfrm>
            <a:off x="530352" y="1847088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 unit after 50% discount · hardware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3753080-B2A6-FC4C-9F43-3408BC577748}"/>
              </a:ext>
            </a:extLst>
          </p:cNvPr>
          <p:cNvSpPr/>
          <p:nvPr/>
        </p:nvSpPr>
        <p:spPr>
          <a:xfrm>
            <a:off x="530352" y="20848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2E0E7F2-5DCA-B78A-B0C5-76C7828DBD5D}"/>
              </a:ext>
            </a:extLst>
          </p:cNvPr>
          <p:cNvSpPr/>
          <p:nvPr/>
        </p:nvSpPr>
        <p:spPr>
          <a:xfrm>
            <a:off x="4133088" y="365760"/>
            <a:ext cx="3566160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B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2C93B94-D407-D142-8A26-5F1DED46B978}"/>
              </a:ext>
            </a:extLst>
          </p:cNvPr>
          <p:cNvSpPr/>
          <p:nvPr/>
        </p:nvSpPr>
        <p:spPr>
          <a:xfrm>
            <a:off x="4297680" y="521208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17116A9-8D94-45F7-91BF-26A8CC244EAC}"/>
              </a:ext>
            </a:extLst>
          </p:cNvPr>
          <p:cNvSpPr/>
          <p:nvPr/>
        </p:nvSpPr>
        <p:spPr>
          <a:xfrm>
            <a:off x="4297680" y="521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348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Tier 1 · lease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A5272B2-AE48-624B-5115-BDC76F06D8AD}"/>
              </a:ext>
            </a:extLst>
          </p:cNvPr>
          <p:cNvSpPr/>
          <p:nvPr/>
        </p:nvSpPr>
        <p:spPr>
          <a:xfrm>
            <a:off x="4297680" y="777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Jungheinrich AMR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E7D4FE7-9E3C-3A62-E5A0-AE9000C17156}"/>
              </a:ext>
            </a:extLst>
          </p:cNvPr>
          <p:cNvSpPr/>
          <p:nvPr/>
        </p:nvSpPr>
        <p:spPr>
          <a:xfrm>
            <a:off x="4297680" y="10698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10 units (mid-sized warehouse)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48-month operating lease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27B26A3-D0A5-7DE5-CD22-8EC1DFA0F457}"/>
              </a:ext>
            </a:extLst>
          </p:cNvPr>
          <p:cNvSpPr/>
          <p:nvPr/>
        </p:nvSpPr>
        <p:spPr>
          <a:xfrm>
            <a:off x="4297680" y="15087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C62664C-03D5-30DC-CBC5-CF297992047B}"/>
              </a:ext>
            </a:extLst>
          </p:cNvPr>
          <p:cNvSpPr/>
          <p:nvPr/>
        </p:nvSpPr>
        <p:spPr>
          <a:xfrm>
            <a:off x="4297680" y="15727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sng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€750/mo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C59263D-C349-E566-8A43-92ACBB2ADB5E}"/>
              </a:ext>
            </a:extLst>
          </p:cNvPr>
          <p:cNvSpPr/>
          <p:nvPr/>
        </p:nvSpPr>
        <p:spPr>
          <a:xfrm>
            <a:off x="5047488" y="15361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20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1250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/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mo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7647123-1409-C5F3-6265-F6A0FEE01247}"/>
              </a:ext>
            </a:extLst>
          </p:cNvPr>
          <p:cNvSpPr/>
          <p:nvPr/>
        </p:nvSpPr>
        <p:spPr>
          <a:xfrm>
            <a:off x="4297680" y="1847088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per unit after </a:t>
            </a:r>
            <a:r>
              <a:rPr lang="en-US" sz="8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40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% discount · hardware lease only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62308F5-76F6-E27C-8F32-39EEBBA9EE58}"/>
              </a:ext>
            </a:extLst>
          </p:cNvPr>
          <p:cNvSpPr/>
          <p:nvPr/>
        </p:nvSpPr>
        <p:spPr>
          <a:xfrm>
            <a:off x="4297680" y="20848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B99C6A0-7E63-A4B7-5482-F26ECCAAF8A5}"/>
              </a:ext>
            </a:extLst>
          </p:cNvPr>
          <p:cNvSpPr/>
          <p:nvPr/>
        </p:nvSpPr>
        <p:spPr>
          <a:xfrm>
            <a:off x="7900416" y="352044"/>
            <a:ext cx="3730752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CF10585-FFCC-B493-910A-50357B96B054}"/>
              </a:ext>
            </a:extLst>
          </p:cNvPr>
          <p:cNvSpPr/>
          <p:nvPr/>
        </p:nvSpPr>
        <p:spPr>
          <a:xfrm>
            <a:off x="8046720" y="521208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38128D7-4A12-A012-7410-08A44656DA11}"/>
              </a:ext>
            </a:extLst>
          </p:cNvPr>
          <p:cNvSpPr/>
          <p:nvPr/>
        </p:nvSpPr>
        <p:spPr>
          <a:xfrm>
            <a:off x="8046720" y="521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C447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Hive Autonomy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82E94B9-C69C-8696-0D2E-BA6C9019E92E}"/>
              </a:ext>
            </a:extLst>
          </p:cNvPr>
          <p:cNvSpPr/>
          <p:nvPr/>
        </p:nvSpPr>
        <p:spPr>
          <a:xfrm>
            <a:off x="8046720" y="7772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autonomous ops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15B3D84-15CB-1E28-BBDE-D665CBA787BE}"/>
              </a:ext>
            </a:extLst>
          </p:cNvPr>
          <p:cNvSpPr/>
          <p:nvPr/>
        </p:nvSpPr>
        <p:spPr>
          <a:xfrm>
            <a:off x="8046720" y="1069848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Service model · full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opex</a:t>
            </a:r>
            <a:endParaRPr kumimoji="0" lang="en-US" sz="9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no upfront commitment</a:t>
            </a: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 – counter-balanced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A57E348-F969-756F-68BE-CFC15C63C9E0}"/>
              </a:ext>
            </a:extLst>
          </p:cNvPr>
          <p:cNvSpPr/>
          <p:nvPr/>
        </p:nvSpPr>
        <p:spPr>
          <a:xfrm>
            <a:off x="8046720" y="1508760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4BDDE02-7C7E-C6E8-E34B-1A5053F2AFDE}"/>
              </a:ext>
            </a:extLst>
          </p:cNvPr>
          <p:cNvSpPr/>
          <p:nvPr/>
        </p:nvSpPr>
        <p:spPr>
          <a:xfrm>
            <a:off x="8046720" y="1847088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 shift / per unit · per SOW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1A8F8B5B-0AF3-A4F3-2104-3182EB138393}"/>
              </a:ext>
            </a:extLst>
          </p:cNvPr>
          <p:cNvSpPr/>
          <p:nvPr/>
        </p:nvSpPr>
        <p:spPr>
          <a:xfrm>
            <a:off x="8046720" y="20848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78A741A-18A3-87A4-0E1D-276C93774416}"/>
              </a:ext>
            </a:extLst>
          </p:cNvPr>
          <p:cNvSpPr/>
          <p:nvPr/>
        </p:nvSpPr>
        <p:spPr>
          <a:xfrm>
            <a:off x="530352" y="2176272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Hardware (10 units)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36B7C1E0-9139-E51B-3D54-89B33801D1E4}"/>
              </a:ext>
            </a:extLst>
          </p:cNvPr>
          <p:cNvSpPr/>
          <p:nvPr/>
        </p:nvSpPr>
        <p:spPr>
          <a:xfrm>
            <a:off x="2537277" y="2176272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€375,000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AEF67D2-325A-FB84-7D8D-16D100463CD8}"/>
              </a:ext>
            </a:extLst>
          </p:cNvPr>
          <p:cNvSpPr/>
          <p:nvPr/>
        </p:nvSpPr>
        <p:spPr>
          <a:xfrm>
            <a:off x="4297680" y="2176272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Hardware (10 units)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EDB5894-A66C-2992-E059-D2EEFFA3D2A0}"/>
              </a:ext>
            </a:extLst>
          </p:cNvPr>
          <p:cNvSpPr/>
          <p:nvPr/>
        </p:nvSpPr>
        <p:spPr>
          <a:xfrm>
            <a:off x="6304605" y="2176272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9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150,000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2F76AC53-1D5C-6462-BF51-6560257389E9}"/>
              </a:ext>
            </a:extLst>
          </p:cNvPr>
          <p:cNvSpPr/>
          <p:nvPr/>
        </p:nvSpPr>
        <p:spPr>
          <a:xfrm>
            <a:off x="8046720" y="2176272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Hardware (10 units</a:t>
            </a:r>
            <a:r>
              <a:rPr lang="en-US" sz="9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375973D4-A158-1729-9EA0-1B373CD9058A}"/>
              </a:ext>
            </a:extLst>
          </p:cNvPr>
          <p:cNvSpPr/>
          <p:nvPr/>
        </p:nvSpPr>
        <p:spPr>
          <a:xfrm>
            <a:off x="10155692" y="2176272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900" b="1">
                <a:solidFill>
                  <a:srgbClr val="27500A"/>
                </a:solidFill>
                <a:latin typeface="Calibri"/>
                <a:ea typeface="Calibri"/>
                <a:cs typeface="Calibri"/>
              </a:rPr>
              <a:t>162,000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E54CD316-EF45-38C6-EF83-6EEE1460D592}"/>
              </a:ext>
            </a:extLst>
          </p:cNvPr>
          <p:cNvSpPr/>
          <p:nvPr/>
        </p:nvSpPr>
        <p:spPr>
          <a:xfrm>
            <a:off x="530352" y="24323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0AD0A04A-91E5-CC34-C060-08061A0E27F2}"/>
              </a:ext>
            </a:extLst>
          </p:cNvPr>
          <p:cNvSpPr/>
          <p:nvPr/>
        </p:nvSpPr>
        <p:spPr>
          <a:xfrm>
            <a:off x="4297680" y="24323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5E42F245-C9F7-E631-7FA8-AB9937035796}"/>
              </a:ext>
            </a:extLst>
          </p:cNvPr>
          <p:cNvSpPr/>
          <p:nvPr/>
        </p:nvSpPr>
        <p:spPr>
          <a:xfrm>
            <a:off x="8101584" y="2432304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1B4FACBC-8A53-3FEC-69E7-9D211805E9CC}"/>
              </a:ext>
            </a:extLst>
          </p:cNvPr>
          <p:cNvSpPr/>
          <p:nvPr/>
        </p:nvSpPr>
        <p:spPr>
          <a:xfrm>
            <a:off x="530352" y="2514600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+ commissioning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65C31264-2BDA-1B55-6B4B-08FC34C7E329}"/>
              </a:ext>
            </a:extLst>
          </p:cNvPr>
          <p:cNvSpPr/>
          <p:nvPr/>
        </p:nvSpPr>
        <p:spPr>
          <a:xfrm>
            <a:off x="2537277" y="2514600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€110,000/500,000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B31393A6-BB82-CFC5-352B-141F75CEFD3F}"/>
              </a:ext>
            </a:extLst>
          </p:cNvPr>
          <p:cNvSpPr/>
          <p:nvPr/>
        </p:nvSpPr>
        <p:spPr>
          <a:xfrm>
            <a:off x="4297680" y="2514600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+ commissioning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B0F34B44-45F8-41AB-83A8-E8A8052A6980}"/>
              </a:ext>
            </a:extLst>
          </p:cNvPr>
          <p:cNvSpPr/>
          <p:nvPr/>
        </p:nvSpPr>
        <p:spPr>
          <a:xfrm>
            <a:off x="6304605" y="2514600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9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50,000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ABB3E577-DA8F-E01A-D4DD-FD71B19417A1}"/>
              </a:ext>
            </a:extLst>
          </p:cNvPr>
          <p:cNvSpPr/>
          <p:nvPr/>
        </p:nvSpPr>
        <p:spPr>
          <a:xfrm>
            <a:off x="8046720" y="2514600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+ commissioning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64383F0E-3138-FBBC-C934-F74EF3638DFF}"/>
              </a:ext>
            </a:extLst>
          </p:cNvPr>
          <p:cNvSpPr/>
          <p:nvPr/>
        </p:nvSpPr>
        <p:spPr>
          <a:xfrm>
            <a:off x="10155692" y="2514600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E6DAE721-4FAA-2E2E-353B-FB70AE3612F4}"/>
              </a:ext>
            </a:extLst>
          </p:cNvPr>
          <p:cNvSpPr/>
          <p:nvPr/>
        </p:nvSpPr>
        <p:spPr>
          <a:xfrm>
            <a:off x="530352" y="2770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1A1B9576-3D2A-0210-C090-3622DF4C513B}"/>
              </a:ext>
            </a:extLst>
          </p:cNvPr>
          <p:cNvSpPr/>
          <p:nvPr/>
        </p:nvSpPr>
        <p:spPr>
          <a:xfrm>
            <a:off x="4297680" y="2770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541177A8-EE3B-680E-A0BD-965AE69B6479}"/>
              </a:ext>
            </a:extLst>
          </p:cNvPr>
          <p:cNvSpPr/>
          <p:nvPr/>
        </p:nvSpPr>
        <p:spPr>
          <a:xfrm>
            <a:off x="8046720" y="27706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DB553D4B-B1D7-AEB5-D4C4-F972D8D9C7E3}"/>
              </a:ext>
            </a:extLst>
          </p:cNvPr>
          <p:cNvSpPr/>
          <p:nvPr/>
        </p:nvSpPr>
        <p:spPr>
          <a:xfrm>
            <a:off x="530352" y="2852928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Fleet mgmt software (yr 1)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2CA6E9DD-1BC7-8E63-0B35-FC041E7677AE}"/>
              </a:ext>
            </a:extLst>
          </p:cNvPr>
          <p:cNvSpPr/>
          <p:nvPr/>
        </p:nvSpPr>
        <p:spPr>
          <a:xfrm>
            <a:off x="2537277" y="2852928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9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30,000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FBAB2A6A-DFED-B987-6626-61E859458101}"/>
              </a:ext>
            </a:extLst>
          </p:cNvPr>
          <p:cNvSpPr/>
          <p:nvPr/>
        </p:nvSpPr>
        <p:spPr>
          <a:xfrm>
            <a:off x="4297680" y="2852928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Fleet mgmt software (yr 1)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263C7477-A796-92AE-801B-EB6915C4A5D8}"/>
              </a:ext>
            </a:extLst>
          </p:cNvPr>
          <p:cNvSpPr/>
          <p:nvPr/>
        </p:nvSpPr>
        <p:spPr>
          <a:xfrm>
            <a:off x="6304605" y="2852928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€30,000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9F0874CE-D1F7-BB1A-D6D0-3EFF7E595407}"/>
              </a:ext>
            </a:extLst>
          </p:cNvPr>
          <p:cNvSpPr/>
          <p:nvPr/>
        </p:nvSpPr>
        <p:spPr>
          <a:xfrm>
            <a:off x="8046720" y="2852928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Fleet mgmt software (yr 1)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EAAAD922-37CF-4015-BF7E-A0DEAD80548A}"/>
              </a:ext>
            </a:extLst>
          </p:cNvPr>
          <p:cNvSpPr/>
          <p:nvPr/>
        </p:nvSpPr>
        <p:spPr>
          <a:xfrm>
            <a:off x="10155692" y="2852928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0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724508A3-BE68-940E-4BBE-48F5E0954E1E}"/>
              </a:ext>
            </a:extLst>
          </p:cNvPr>
          <p:cNvSpPr/>
          <p:nvPr/>
        </p:nvSpPr>
        <p:spPr>
          <a:xfrm>
            <a:off x="530352" y="31089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8E2B431E-AA58-5575-829C-E56BEADF7CD3}"/>
              </a:ext>
            </a:extLst>
          </p:cNvPr>
          <p:cNvSpPr/>
          <p:nvPr/>
        </p:nvSpPr>
        <p:spPr>
          <a:xfrm>
            <a:off x="4297680" y="31089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C8C88053-23CB-DEFA-8DE5-614D998160C8}"/>
              </a:ext>
            </a:extLst>
          </p:cNvPr>
          <p:cNvSpPr/>
          <p:nvPr/>
        </p:nvSpPr>
        <p:spPr>
          <a:xfrm>
            <a:off x="8046720" y="3108960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AC4D0B04-D513-1ABC-4C6B-B687D2B6E786}"/>
              </a:ext>
            </a:extLst>
          </p:cNvPr>
          <p:cNvSpPr/>
          <p:nvPr/>
        </p:nvSpPr>
        <p:spPr>
          <a:xfrm>
            <a:off x="530352" y="3191256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service / maintenance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C986F4E7-651A-8BDC-ECE7-3919DFF2C3D0}"/>
              </a:ext>
            </a:extLst>
          </p:cNvPr>
          <p:cNvSpPr/>
          <p:nvPr/>
        </p:nvSpPr>
        <p:spPr>
          <a:xfrm>
            <a:off x="2537277" y="3191256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€20,000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8167E428-8D60-C27F-5CFB-96F9647CBC3E}"/>
              </a:ext>
            </a:extLst>
          </p:cNvPr>
          <p:cNvSpPr/>
          <p:nvPr/>
        </p:nvSpPr>
        <p:spPr>
          <a:xfrm>
            <a:off x="4297680" y="3191256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service / maintenance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F06635B9-839C-4697-2015-5B4C25F279B2}"/>
              </a:ext>
            </a:extLst>
          </p:cNvPr>
          <p:cNvSpPr/>
          <p:nvPr/>
        </p:nvSpPr>
        <p:spPr>
          <a:xfrm>
            <a:off x="6304605" y="3191256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900" b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20,000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D8791D87-6D57-C6D3-B24C-ED7D2A63A1B7}"/>
              </a:ext>
            </a:extLst>
          </p:cNvPr>
          <p:cNvSpPr/>
          <p:nvPr/>
        </p:nvSpPr>
        <p:spPr>
          <a:xfrm>
            <a:off x="8046720" y="3191256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service / maintenance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702F709D-98F5-7C0A-629A-143AC5CED4C1}"/>
              </a:ext>
            </a:extLst>
          </p:cNvPr>
          <p:cNvSpPr/>
          <p:nvPr/>
        </p:nvSpPr>
        <p:spPr>
          <a:xfrm>
            <a:off x="10155692" y="3191256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Included (pass-through cost of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€20,000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from existing fleet)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B11FC0E8-9836-BCA5-60F5-513FD5A56544}"/>
              </a:ext>
            </a:extLst>
          </p:cNvPr>
          <p:cNvSpPr/>
          <p:nvPr/>
        </p:nvSpPr>
        <p:spPr>
          <a:xfrm>
            <a:off x="530352" y="3447288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EA49EC48-B1B2-CD16-D8A8-D7FF351E79C5}"/>
              </a:ext>
            </a:extLst>
          </p:cNvPr>
          <p:cNvSpPr/>
          <p:nvPr/>
        </p:nvSpPr>
        <p:spPr>
          <a:xfrm>
            <a:off x="4297680" y="3447288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E12C998A-588E-F4CD-AFBE-6CBB3BC5B989}"/>
              </a:ext>
            </a:extLst>
          </p:cNvPr>
          <p:cNvSpPr/>
          <p:nvPr/>
        </p:nvSpPr>
        <p:spPr>
          <a:xfrm>
            <a:off x="8046720" y="3447288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5B944A09-6398-004A-9F63-CF7484D3AAE9}"/>
              </a:ext>
            </a:extLst>
          </p:cNvPr>
          <p:cNvSpPr/>
          <p:nvPr/>
        </p:nvSpPr>
        <p:spPr>
          <a:xfrm>
            <a:off x="530352" y="3529584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retraining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E088AD3A-8DCE-C2F8-AA84-2F442DCBF36B}"/>
              </a:ext>
            </a:extLst>
          </p:cNvPr>
          <p:cNvSpPr/>
          <p:nvPr/>
        </p:nvSpPr>
        <p:spPr>
          <a:xfrm>
            <a:off x="2537277" y="3529584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€7,500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1491BE36-44C0-A16A-253F-6BBE51AAED36}"/>
              </a:ext>
            </a:extLst>
          </p:cNvPr>
          <p:cNvSpPr/>
          <p:nvPr/>
        </p:nvSpPr>
        <p:spPr>
          <a:xfrm>
            <a:off x="4297680" y="3529584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retraining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F389987F-E1DF-50E1-D99B-3B6A6B103FEE}"/>
              </a:ext>
            </a:extLst>
          </p:cNvPr>
          <p:cNvSpPr/>
          <p:nvPr/>
        </p:nvSpPr>
        <p:spPr>
          <a:xfrm>
            <a:off x="6304605" y="3529584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€7,500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5759466F-ACCA-6C30-96A4-590BDF6D0AE4}"/>
              </a:ext>
            </a:extLst>
          </p:cNvPr>
          <p:cNvSpPr/>
          <p:nvPr/>
        </p:nvSpPr>
        <p:spPr>
          <a:xfrm>
            <a:off x="8046720" y="3529584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Installation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C32A2CF1-CAC5-4400-A727-8B5F1931E9FB}"/>
              </a:ext>
            </a:extLst>
          </p:cNvPr>
          <p:cNvSpPr/>
          <p:nvPr/>
        </p:nvSpPr>
        <p:spPr>
          <a:xfrm>
            <a:off x="10155692" y="3529584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900" b="1">
                <a:solidFill>
                  <a:srgbClr val="27500A"/>
                </a:solidFill>
                <a:latin typeface="Calibri"/>
                <a:ea typeface="Calibri"/>
                <a:cs typeface="Calibri"/>
              </a:rPr>
              <a:t>1,800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58B1B935-ED74-6934-8BD5-D59015704007}"/>
              </a:ext>
            </a:extLst>
          </p:cNvPr>
          <p:cNvSpPr/>
          <p:nvPr/>
        </p:nvSpPr>
        <p:spPr>
          <a:xfrm>
            <a:off x="530352" y="3913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E9ADBAF3-EE31-7F43-A915-0D539A92F1A6}"/>
              </a:ext>
            </a:extLst>
          </p:cNvPr>
          <p:cNvSpPr/>
          <p:nvPr/>
        </p:nvSpPr>
        <p:spPr>
          <a:xfrm>
            <a:off x="4297680" y="3913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7B270F9E-EB1B-277F-AFA5-3816F78D21E5}"/>
              </a:ext>
            </a:extLst>
          </p:cNvPr>
          <p:cNvSpPr/>
          <p:nvPr/>
        </p:nvSpPr>
        <p:spPr>
          <a:xfrm>
            <a:off x="8046720" y="39136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533317DE-F8AD-893A-4288-440DBBCF3984}"/>
              </a:ext>
            </a:extLst>
          </p:cNvPr>
          <p:cNvSpPr/>
          <p:nvPr/>
        </p:nvSpPr>
        <p:spPr>
          <a:xfrm>
            <a:off x="530352" y="3986784"/>
            <a:ext cx="17803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E7E16417-474D-E91F-3EB5-41F594DF94FB}"/>
              </a:ext>
            </a:extLst>
          </p:cNvPr>
          <p:cNvSpPr/>
          <p:nvPr/>
        </p:nvSpPr>
        <p:spPr>
          <a:xfrm>
            <a:off x="2310689" y="3986784"/>
            <a:ext cx="14566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854F0B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1100" b="1">
                <a:solidFill>
                  <a:srgbClr val="854F0B"/>
                </a:solidFill>
                <a:latin typeface="Calibri"/>
                <a:ea typeface="Calibri"/>
                <a:cs typeface="Calibri"/>
              </a:rPr>
              <a:t>542,500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0D3C1533-859E-BBAE-A780-B40E077C3DE6}"/>
              </a:ext>
            </a:extLst>
          </p:cNvPr>
          <p:cNvSpPr/>
          <p:nvPr/>
        </p:nvSpPr>
        <p:spPr>
          <a:xfrm>
            <a:off x="4297680" y="3986784"/>
            <a:ext cx="17803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 </a:t>
            </a:r>
            <a:r>
              <a:rPr kumimoji="0" 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excl.remaining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costs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9BD24D37-4A43-8598-75EC-9AB22F155DEB}"/>
              </a:ext>
            </a:extLst>
          </p:cNvPr>
          <p:cNvSpPr/>
          <p:nvPr/>
        </p:nvSpPr>
        <p:spPr>
          <a:xfrm>
            <a:off x="6078017" y="3986784"/>
            <a:ext cx="14566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3C348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1100" b="1">
                <a:solidFill>
                  <a:srgbClr val="3C3489"/>
                </a:solidFill>
                <a:latin typeface="Calibri"/>
                <a:ea typeface="Calibri"/>
                <a:cs typeface="Calibri"/>
              </a:rPr>
              <a:t>237,500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7D745137-E72C-95E6-9C70-4E61CDC329D7}"/>
              </a:ext>
            </a:extLst>
          </p:cNvPr>
          <p:cNvSpPr/>
          <p:nvPr/>
        </p:nvSpPr>
        <p:spPr>
          <a:xfrm>
            <a:off x="8046720" y="3986784"/>
            <a:ext cx="18708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54DE6D7D-8F64-B6C1-DDA6-AA3E25C51801}"/>
              </a:ext>
            </a:extLst>
          </p:cNvPr>
          <p:cNvSpPr/>
          <p:nvPr/>
        </p:nvSpPr>
        <p:spPr>
          <a:xfrm>
            <a:off x="9917582" y="3986784"/>
            <a:ext cx="15307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3C348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€163,800</a:t>
            </a:r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433946D4-5BB2-5E39-048A-63C5C4DE12CD}"/>
              </a:ext>
            </a:extLst>
          </p:cNvPr>
          <p:cNvSpPr/>
          <p:nvPr/>
        </p:nvSpPr>
        <p:spPr>
          <a:xfrm>
            <a:off x="530352" y="42611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045CFE96-6CA8-1E0D-C17B-C6E462F36C4F}"/>
              </a:ext>
            </a:extLst>
          </p:cNvPr>
          <p:cNvSpPr/>
          <p:nvPr/>
        </p:nvSpPr>
        <p:spPr>
          <a:xfrm>
            <a:off x="4297680" y="42611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453472B6-0028-3E2A-6563-679364D41951}"/>
              </a:ext>
            </a:extLst>
          </p:cNvPr>
          <p:cNvSpPr/>
          <p:nvPr/>
        </p:nvSpPr>
        <p:spPr>
          <a:xfrm>
            <a:off x="8046720" y="4261104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6A16460D-584D-26F6-6A70-B99C6DABD794}"/>
              </a:ext>
            </a:extLst>
          </p:cNvPr>
          <p:cNvSpPr/>
          <p:nvPr/>
        </p:nvSpPr>
        <p:spPr>
          <a:xfrm>
            <a:off x="530352" y="4315968"/>
            <a:ext cx="20069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which upfront capex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Text 85">
            <a:extLst>
              <a:ext uri="{FF2B5EF4-FFF2-40B4-BE49-F238E27FC236}">
                <a16:creationId xmlns:a16="http://schemas.microsoft.com/office/drawing/2014/main" id="{72EDFD76-DA23-F0CF-1C05-8BB60AFFA87B}"/>
              </a:ext>
            </a:extLst>
          </p:cNvPr>
          <p:cNvSpPr/>
          <p:nvPr/>
        </p:nvSpPr>
        <p:spPr>
          <a:xfrm>
            <a:off x="2537277" y="4315968"/>
            <a:ext cx="12300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>
                <a:ln>
                  <a:noFill/>
                </a:ln>
                <a:solidFill>
                  <a:srgbClr val="854F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€375,000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BA11199F-10D6-6C36-F9BE-A1DA3AA47B16}"/>
              </a:ext>
            </a:extLst>
          </p:cNvPr>
          <p:cNvSpPr/>
          <p:nvPr/>
        </p:nvSpPr>
        <p:spPr>
          <a:xfrm>
            <a:off x="4297680" y="4315968"/>
            <a:ext cx="20069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which upfront (integration)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Text 87">
            <a:extLst>
              <a:ext uri="{FF2B5EF4-FFF2-40B4-BE49-F238E27FC236}">
                <a16:creationId xmlns:a16="http://schemas.microsoft.com/office/drawing/2014/main" id="{FD860904-360B-88EB-39DF-374C46D905B0}"/>
              </a:ext>
            </a:extLst>
          </p:cNvPr>
          <p:cNvSpPr/>
          <p:nvPr/>
        </p:nvSpPr>
        <p:spPr>
          <a:xfrm>
            <a:off x="6304605" y="4315968"/>
            <a:ext cx="12300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>
                <a:ln>
                  <a:noFill/>
                </a:ln>
                <a:solidFill>
                  <a:srgbClr val="3C348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800" b="1" i="1">
                <a:solidFill>
                  <a:srgbClr val="3C3489"/>
                </a:solidFill>
                <a:latin typeface="Calibri"/>
                <a:ea typeface="Calibri"/>
                <a:cs typeface="Calibri"/>
              </a:rPr>
              <a:t>50,000</a:t>
            </a:r>
            <a:endParaRPr kumimoji="0" lang="en-US" sz="800" b="1" i="1" u="none" strike="noStrike" kern="1200" cap="none" spc="0" normalizeH="0" baseline="0" noProof="0">
              <a:ln>
                <a:noFill/>
              </a:ln>
              <a:solidFill>
                <a:srgbClr val="3C3489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4BF4DCA3-E3D4-41F0-5DD9-A5184ACBC0C7}"/>
              </a:ext>
            </a:extLst>
          </p:cNvPr>
          <p:cNvSpPr/>
          <p:nvPr/>
        </p:nvSpPr>
        <p:spPr>
          <a:xfrm>
            <a:off x="8046720" y="4315968"/>
            <a:ext cx="21089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which upfront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Text 89">
            <a:extLst>
              <a:ext uri="{FF2B5EF4-FFF2-40B4-BE49-F238E27FC236}">
                <a16:creationId xmlns:a16="http://schemas.microsoft.com/office/drawing/2014/main" id="{C612A709-1676-42DD-4C84-FF145CAE6B08}"/>
              </a:ext>
            </a:extLst>
          </p:cNvPr>
          <p:cNvSpPr/>
          <p:nvPr/>
        </p:nvSpPr>
        <p:spPr>
          <a:xfrm>
            <a:off x="10155692" y="4315968"/>
            <a:ext cx="12925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€1,800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ED0F7B1A-04DD-AF66-4A3E-AE22A9695F72}"/>
              </a:ext>
            </a:extLst>
          </p:cNvPr>
          <p:cNvSpPr/>
          <p:nvPr/>
        </p:nvSpPr>
        <p:spPr>
          <a:xfrm>
            <a:off x="365760" y="653796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1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List price basis: €65,000/unit (arculee M / EAE 212a — industry estimate) · Standard lease: €750/unit/month · 50% DHL Tier 1 discount applied throughout all line items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Text 18">
            <a:extLst>
              <a:ext uri="{FF2B5EF4-FFF2-40B4-BE49-F238E27FC236}">
                <a16:creationId xmlns:a16="http://schemas.microsoft.com/office/drawing/2014/main" id="{4234D942-4086-C341-DEE9-CE42AE63D011}"/>
              </a:ext>
            </a:extLst>
          </p:cNvPr>
          <p:cNvSpPr/>
          <p:nvPr/>
        </p:nvSpPr>
        <p:spPr>
          <a:xfrm>
            <a:off x="8904030" y="154042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€1350/</a:t>
            </a: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Text 18">
            <a:extLst>
              <a:ext uri="{FF2B5EF4-FFF2-40B4-BE49-F238E27FC236}">
                <a16:creationId xmlns:a16="http://schemas.microsoft.com/office/drawing/2014/main" id="{435C00CD-224A-49BE-DF9E-51A0EC3D7FE8}"/>
              </a:ext>
            </a:extLst>
          </p:cNvPr>
          <p:cNvSpPr/>
          <p:nvPr/>
        </p:nvSpPr>
        <p:spPr>
          <a:xfrm>
            <a:off x="8369130" y="4775031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the output of AMRs 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EE5F73-07CC-3116-CF4F-B276CE95F8EA}"/>
              </a:ext>
            </a:extLst>
          </p:cNvPr>
          <p:cNvSpPr txBox="1"/>
          <p:nvPr/>
        </p:nvSpPr>
        <p:spPr>
          <a:xfrm>
            <a:off x="530351" y="4850296"/>
            <a:ext cx="3137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Battery – lithium or not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2198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C65A4-E2F2-5769-2B91-2D9345AF0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22D2E58-237C-6F2C-3838-D20AD270A5DB}"/>
              </a:ext>
            </a:extLst>
          </p:cNvPr>
          <p:cNvSpPr/>
          <p:nvPr/>
        </p:nvSpPr>
        <p:spPr>
          <a:xfrm>
            <a:off x="365760" y="137160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800" b="1" i="0" u="none" strike="noStrike" kern="0" cap="none" spc="20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COST COMPARISON — GXO AMR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31C262B-AC9E-5FE8-D955-E55912955968}"/>
              </a:ext>
            </a:extLst>
          </p:cNvPr>
          <p:cNvSpPr/>
          <p:nvPr/>
        </p:nvSpPr>
        <p:spPr>
          <a:xfrm>
            <a:off x="228600" y="489204"/>
            <a:ext cx="3566160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B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BA1021A-DF74-0A15-6994-594DC5C52683}"/>
              </a:ext>
            </a:extLst>
          </p:cNvPr>
          <p:cNvSpPr/>
          <p:nvPr/>
        </p:nvSpPr>
        <p:spPr>
          <a:xfrm>
            <a:off x="530352" y="521208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FDF3E0"/>
          </a:solidFill>
          <a:ln w="12700">
            <a:solidFill>
              <a:srgbClr val="FDF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C9EFF68-85FC-B78B-28F0-5BAA047C2388}"/>
              </a:ext>
            </a:extLst>
          </p:cNvPr>
          <p:cNvSpPr/>
          <p:nvPr/>
        </p:nvSpPr>
        <p:spPr>
          <a:xfrm>
            <a:off x="530352" y="521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7F55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Tier 1 · capex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83D6EB5-7F6B-568F-00AC-736599AA84F7}"/>
              </a:ext>
            </a:extLst>
          </p:cNvPr>
          <p:cNvSpPr/>
          <p:nvPr/>
        </p:nvSpPr>
        <p:spPr>
          <a:xfrm>
            <a:off x="530352" y="777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Jungheinrich AMR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45A20AB-3CF8-2889-BC8F-E26CED163B3C}"/>
              </a:ext>
            </a:extLst>
          </p:cNvPr>
          <p:cNvSpPr/>
          <p:nvPr/>
        </p:nvSpPr>
        <p:spPr>
          <a:xfrm>
            <a:off x="530352" y="10698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·10 units (mid-sized warehouse)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outright purchase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055DE67-E7C8-9CCE-133E-C2826F74F714}"/>
              </a:ext>
            </a:extLst>
          </p:cNvPr>
          <p:cNvSpPr/>
          <p:nvPr/>
        </p:nvSpPr>
        <p:spPr>
          <a:xfrm>
            <a:off x="530352" y="15087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AB2405F-CF1D-5D6A-8630-4180D89ABB7A}"/>
              </a:ext>
            </a:extLst>
          </p:cNvPr>
          <p:cNvSpPr/>
          <p:nvPr/>
        </p:nvSpPr>
        <p:spPr>
          <a:xfrm>
            <a:off x="530352" y="15727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sng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€75,000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90CEBF2-1FD9-4635-0F32-4F4DBA32C6CB}"/>
              </a:ext>
            </a:extLst>
          </p:cNvPr>
          <p:cNvSpPr/>
          <p:nvPr/>
        </p:nvSpPr>
        <p:spPr>
          <a:xfrm>
            <a:off x="1280160" y="15361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€37,500/125k (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balyo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E7454D9-E397-7453-140E-E883454A99F6}"/>
              </a:ext>
            </a:extLst>
          </p:cNvPr>
          <p:cNvSpPr/>
          <p:nvPr/>
        </p:nvSpPr>
        <p:spPr>
          <a:xfrm>
            <a:off x="530352" y="1847088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 unit after 50% discount · hardware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11C3A4C-B446-CA2E-65B6-60B4998505F7}"/>
              </a:ext>
            </a:extLst>
          </p:cNvPr>
          <p:cNvSpPr/>
          <p:nvPr/>
        </p:nvSpPr>
        <p:spPr>
          <a:xfrm>
            <a:off x="530352" y="20848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C803318-2BBA-EA60-751C-0473D3D99AED}"/>
              </a:ext>
            </a:extLst>
          </p:cNvPr>
          <p:cNvSpPr/>
          <p:nvPr/>
        </p:nvSpPr>
        <p:spPr>
          <a:xfrm>
            <a:off x="4133088" y="365760"/>
            <a:ext cx="3566160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B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B20F7A2-A4E6-27D4-E5DD-7035EE28BAA4}"/>
              </a:ext>
            </a:extLst>
          </p:cNvPr>
          <p:cNvSpPr/>
          <p:nvPr/>
        </p:nvSpPr>
        <p:spPr>
          <a:xfrm>
            <a:off x="4297680" y="521208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4047B42-1584-3DEA-EBA6-D45BF544BBBB}"/>
              </a:ext>
            </a:extLst>
          </p:cNvPr>
          <p:cNvSpPr/>
          <p:nvPr/>
        </p:nvSpPr>
        <p:spPr>
          <a:xfrm>
            <a:off x="4297680" y="521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348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Tier 1 · lease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2F7E05F-E0B9-8BC5-97EA-4A89182C82EA}"/>
              </a:ext>
            </a:extLst>
          </p:cNvPr>
          <p:cNvSpPr/>
          <p:nvPr/>
        </p:nvSpPr>
        <p:spPr>
          <a:xfrm>
            <a:off x="4297680" y="777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Jungheinrich AMR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1AE782B-B157-8ED3-8C21-31E8AB355074}"/>
              </a:ext>
            </a:extLst>
          </p:cNvPr>
          <p:cNvSpPr/>
          <p:nvPr/>
        </p:nvSpPr>
        <p:spPr>
          <a:xfrm>
            <a:off x="4297680" y="10698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10 units (mid-sized warehouse)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48-month operating lease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5F1940D-ADC2-AD6C-74DA-73D929AE3522}"/>
              </a:ext>
            </a:extLst>
          </p:cNvPr>
          <p:cNvSpPr/>
          <p:nvPr/>
        </p:nvSpPr>
        <p:spPr>
          <a:xfrm>
            <a:off x="4297680" y="15087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B0957A8-5BFA-1B10-B020-E0FB1D8AFE59}"/>
              </a:ext>
            </a:extLst>
          </p:cNvPr>
          <p:cNvSpPr/>
          <p:nvPr/>
        </p:nvSpPr>
        <p:spPr>
          <a:xfrm>
            <a:off x="4297680" y="15727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sng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€750/mo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257DDA3-B80E-0817-E8F0-3DB7F7A8767A}"/>
              </a:ext>
            </a:extLst>
          </p:cNvPr>
          <p:cNvSpPr/>
          <p:nvPr/>
        </p:nvSpPr>
        <p:spPr>
          <a:xfrm>
            <a:off x="5047488" y="15361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€1250/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mo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DC9E478-2A6B-60C3-2198-D4BB377202FC}"/>
              </a:ext>
            </a:extLst>
          </p:cNvPr>
          <p:cNvSpPr/>
          <p:nvPr/>
        </p:nvSpPr>
        <p:spPr>
          <a:xfrm>
            <a:off x="4297680" y="1847088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per unit after 40% discount · hardware lease only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D604C44-AC25-C0A3-567E-BB18D4D8C1DA}"/>
              </a:ext>
            </a:extLst>
          </p:cNvPr>
          <p:cNvSpPr/>
          <p:nvPr/>
        </p:nvSpPr>
        <p:spPr>
          <a:xfrm>
            <a:off x="4297680" y="20848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A0A5DB9-0DF9-E4C8-9E93-F9E553634095}"/>
              </a:ext>
            </a:extLst>
          </p:cNvPr>
          <p:cNvSpPr/>
          <p:nvPr/>
        </p:nvSpPr>
        <p:spPr>
          <a:xfrm>
            <a:off x="7900416" y="352044"/>
            <a:ext cx="3730752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1DBF0F7-1072-29C0-570A-93F7E0839F18}"/>
              </a:ext>
            </a:extLst>
          </p:cNvPr>
          <p:cNvSpPr/>
          <p:nvPr/>
        </p:nvSpPr>
        <p:spPr>
          <a:xfrm>
            <a:off x="8046720" y="521208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1E23F19-E3F1-6556-FFD6-7BFED02B7198}"/>
              </a:ext>
            </a:extLst>
          </p:cNvPr>
          <p:cNvSpPr/>
          <p:nvPr/>
        </p:nvSpPr>
        <p:spPr>
          <a:xfrm>
            <a:off x="8046720" y="521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C447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Hive Autonomy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78F3A8F-4B8C-AACB-08A7-5E3EA6D378F1}"/>
              </a:ext>
            </a:extLst>
          </p:cNvPr>
          <p:cNvSpPr/>
          <p:nvPr/>
        </p:nvSpPr>
        <p:spPr>
          <a:xfrm>
            <a:off x="8046720" y="7772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autonomous ops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3A3DC15-C958-3B98-D4D8-DF84340A033D}"/>
              </a:ext>
            </a:extLst>
          </p:cNvPr>
          <p:cNvSpPr/>
          <p:nvPr/>
        </p:nvSpPr>
        <p:spPr>
          <a:xfrm>
            <a:off x="8046720" y="1069848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Service model · full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opex</a:t>
            </a:r>
            <a:endParaRPr kumimoji="0" lang="en-US" sz="9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no upfront commitment – counter-balanced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B1517A9-5A75-F42F-3F8D-F76120F43B74}"/>
              </a:ext>
            </a:extLst>
          </p:cNvPr>
          <p:cNvSpPr/>
          <p:nvPr/>
        </p:nvSpPr>
        <p:spPr>
          <a:xfrm>
            <a:off x="8046720" y="1508760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5C9147CC-7DE2-19FF-3380-F1E953F8D3A3}"/>
              </a:ext>
            </a:extLst>
          </p:cNvPr>
          <p:cNvSpPr/>
          <p:nvPr/>
        </p:nvSpPr>
        <p:spPr>
          <a:xfrm>
            <a:off x="8046720" y="1847088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 shift / per unit · per SOW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912A8557-FF8F-7948-057F-E41B36BF70CB}"/>
              </a:ext>
            </a:extLst>
          </p:cNvPr>
          <p:cNvSpPr/>
          <p:nvPr/>
        </p:nvSpPr>
        <p:spPr>
          <a:xfrm>
            <a:off x="8046720" y="20848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1144DC0-8A94-DC64-A40B-2D5D299F8645}"/>
              </a:ext>
            </a:extLst>
          </p:cNvPr>
          <p:cNvSpPr/>
          <p:nvPr/>
        </p:nvSpPr>
        <p:spPr>
          <a:xfrm>
            <a:off x="530352" y="2176272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Hardware (10 units)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C18FAF7F-7E02-04D1-1EBE-E9EE536CDFAF}"/>
              </a:ext>
            </a:extLst>
          </p:cNvPr>
          <p:cNvSpPr/>
          <p:nvPr/>
        </p:nvSpPr>
        <p:spPr>
          <a:xfrm>
            <a:off x="2537277" y="2176272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€375,000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71289D5D-D721-C045-C92B-5749A340DFFD}"/>
              </a:ext>
            </a:extLst>
          </p:cNvPr>
          <p:cNvSpPr/>
          <p:nvPr/>
        </p:nvSpPr>
        <p:spPr>
          <a:xfrm>
            <a:off x="4297680" y="2176272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Hardware (10 units)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16461B89-D208-194C-55FD-1A788F0843B2}"/>
              </a:ext>
            </a:extLst>
          </p:cNvPr>
          <p:cNvSpPr/>
          <p:nvPr/>
        </p:nvSpPr>
        <p:spPr>
          <a:xfrm>
            <a:off x="6304605" y="2176272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€150,000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874C1C01-C9F9-90D5-0B89-A6DCE180757F}"/>
              </a:ext>
            </a:extLst>
          </p:cNvPr>
          <p:cNvSpPr/>
          <p:nvPr/>
        </p:nvSpPr>
        <p:spPr>
          <a:xfrm>
            <a:off x="8046720" y="2176272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Hardware (10 units)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B0283502-7EFD-FCEA-96A0-CE850B36FA99}"/>
              </a:ext>
            </a:extLst>
          </p:cNvPr>
          <p:cNvSpPr/>
          <p:nvPr/>
        </p:nvSpPr>
        <p:spPr>
          <a:xfrm>
            <a:off x="10155692" y="2176272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€162,000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860BA2AD-45FF-C2BA-1D23-6B0A73D14478}"/>
              </a:ext>
            </a:extLst>
          </p:cNvPr>
          <p:cNvSpPr/>
          <p:nvPr/>
        </p:nvSpPr>
        <p:spPr>
          <a:xfrm>
            <a:off x="530352" y="24323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D42724EF-94CB-8398-0739-2A24B6327DFC}"/>
              </a:ext>
            </a:extLst>
          </p:cNvPr>
          <p:cNvSpPr/>
          <p:nvPr/>
        </p:nvSpPr>
        <p:spPr>
          <a:xfrm>
            <a:off x="4297680" y="24323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96405A2D-EF0F-AEB5-E8F9-58393CA03C48}"/>
              </a:ext>
            </a:extLst>
          </p:cNvPr>
          <p:cNvSpPr/>
          <p:nvPr/>
        </p:nvSpPr>
        <p:spPr>
          <a:xfrm>
            <a:off x="8101584" y="2432304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DEF97FB8-456D-F50D-A4AE-93093F5ED80A}"/>
              </a:ext>
            </a:extLst>
          </p:cNvPr>
          <p:cNvSpPr/>
          <p:nvPr/>
        </p:nvSpPr>
        <p:spPr>
          <a:xfrm>
            <a:off x="530352" y="2514600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+ commissioning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D0D6CE86-10D1-353A-A1E2-AC92745D9AB3}"/>
              </a:ext>
            </a:extLst>
          </p:cNvPr>
          <p:cNvSpPr/>
          <p:nvPr/>
        </p:nvSpPr>
        <p:spPr>
          <a:xfrm>
            <a:off x="2537277" y="2514600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€110,000/500,000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1FB84A32-3F48-DC8D-A7AC-898C16D8E7EF}"/>
              </a:ext>
            </a:extLst>
          </p:cNvPr>
          <p:cNvSpPr/>
          <p:nvPr/>
        </p:nvSpPr>
        <p:spPr>
          <a:xfrm>
            <a:off x="4297680" y="2514600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+ commissioning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D5C1A36E-964A-2593-144F-F2ACFB9A7D2E}"/>
              </a:ext>
            </a:extLst>
          </p:cNvPr>
          <p:cNvSpPr/>
          <p:nvPr/>
        </p:nvSpPr>
        <p:spPr>
          <a:xfrm>
            <a:off x="6304605" y="2514600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€50,000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B9BFB8D6-9F02-AB86-2D6F-803947E6EEC5}"/>
              </a:ext>
            </a:extLst>
          </p:cNvPr>
          <p:cNvSpPr/>
          <p:nvPr/>
        </p:nvSpPr>
        <p:spPr>
          <a:xfrm>
            <a:off x="8046720" y="2514600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+ commissioning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C289EBA5-45E8-B512-7E11-626E34E9BDF7}"/>
              </a:ext>
            </a:extLst>
          </p:cNvPr>
          <p:cNvSpPr/>
          <p:nvPr/>
        </p:nvSpPr>
        <p:spPr>
          <a:xfrm>
            <a:off x="10155692" y="2514600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31768018-3C8F-7C4C-1B6D-ADF503228492}"/>
              </a:ext>
            </a:extLst>
          </p:cNvPr>
          <p:cNvSpPr/>
          <p:nvPr/>
        </p:nvSpPr>
        <p:spPr>
          <a:xfrm>
            <a:off x="530352" y="2770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4448C957-E174-84B7-395A-1C21275D5682}"/>
              </a:ext>
            </a:extLst>
          </p:cNvPr>
          <p:cNvSpPr/>
          <p:nvPr/>
        </p:nvSpPr>
        <p:spPr>
          <a:xfrm>
            <a:off x="4297680" y="2770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1E01B908-619C-16B1-9AD9-B82134254518}"/>
              </a:ext>
            </a:extLst>
          </p:cNvPr>
          <p:cNvSpPr/>
          <p:nvPr/>
        </p:nvSpPr>
        <p:spPr>
          <a:xfrm>
            <a:off x="8046720" y="27706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BDED3EE6-E36F-D67E-A382-061631E4CCE7}"/>
              </a:ext>
            </a:extLst>
          </p:cNvPr>
          <p:cNvSpPr/>
          <p:nvPr/>
        </p:nvSpPr>
        <p:spPr>
          <a:xfrm>
            <a:off x="530352" y="2852928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Fleet mgmt software (yr 1)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3956E754-3009-82CE-C485-9EEC0956F091}"/>
              </a:ext>
            </a:extLst>
          </p:cNvPr>
          <p:cNvSpPr/>
          <p:nvPr/>
        </p:nvSpPr>
        <p:spPr>
          <a:xfrm>
            <a:off x="2537277" y="2852928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€30,000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3FB02EA3-2F3A-DD96-C015-C850204D2D0B}"/>
              </a:ext>
            </a:extLst>
          </p:cNvPr>
          <p:cNvSpPr/>
          <p:nvPr/>
        </p:nvSpPr>
        <p:spPr>
          <a:xfrm>
            <a:off x="4297680" y="2852928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Fleet mgmt software (yr 1)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5DDBAC65-269C-33B3-521C-44E7D8223746}"/>
              </a:ext>
            </a:extLst>
          </p:cNvPr>
          <p:cNvSpPr/>
          <p:nvPr/>
        </p:nvSpPr>
        <p:spPr>
          <a:xfrm>
            <a:off x="6304605" y="2852928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€30,000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045D5D97-4778-51FF-427A-F85180BD9C21}"/>
              </a:ext>
            </a:extLst>
          </p:cNvPr>
          <p:cNvSpPr/>
          <p:nvPr/>
        </p:nvSpPr>
        <p:spPr>
          <a:xfrm>
            <a:off x="8046720" y="2852928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Fleet mgmt software (yr 1)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0FADEA52-FA4F-23B2-F691-49976017B8DE}"/>
              </a:ext>
            </a:extLst>
          </p:cNvPr>
          <p:cNvSpPr/>
          <p:nvPr/>
        </p:nvSpPr>
        <p:spPr>
          <a:xfrm>
            <a:off x="10155692" y="2852928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0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89D2262A-F5E8-60EF-02DB-9B5A02EE99C6}"/>
              </a:ext>
            </a:extLst>
          </p:cNvPr>
          <p:cNvSpPr/>
          <p:nvPr/>
        </p:nvSpPr>
        <p:spPr>
          <a:xfrm>
            <a:off x="530352" y="31089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3CD0C5C3-CC73-5050-5E9B-B2817133154B}"/>
              </a:ext>
            </a:extLst>
          </p:cNvPr>
          <p:cNvSpPr/>
          <p:nvPr/>
        </p:nvSpPr>
        <p:spPr>
          <a:xfrm>
            <a:off x="4297680" y="31089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35D99FDD-7807-56EA-CC6D-DFFA0DD70649}"/>
              </a:ext>
            </a:extLst>
          </p:cNvPr>
          <p:cNvSpPr/>
          <p:nvPr/>
        </p:nvSpPr>
        <p:spPr>
          <a:xfrm>
            <a:off x="8046720" y="3108960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8308B393-E454-C16D-8DD3-A45D27040C30}"/>
              </a:ext>
            </a:extLst>
          </p:cNvPr>
          <p:cNvSpPr/>
          <p:nvPr/>
        </p:nvSpPr>
        <p:spPr>
          <a:xfrm>
            <a:off x="530352" y="3191256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service / maintenance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851B3FD8-A74A-5C75-7D63-19F2A92E328D}"/>
              </a:ext>
            </a:extLst>
          </p:cNvPr>
          <p:cNvSpPr/>
          <p:nvPr/>
        </p:nvSpPr>
        <p:spPr>
          <a:xfrm>
            <a:off x="2537277" y="3191256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€20,000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A25F1D6F-F32D-A999-7064-0D90C275F05C}"/>
              </a:ext>
            </a:extLst>
          </p:cNvPr>
          <p:cNvSpPr/>
          <p:nvPr/>
        </p:nvSpPr>
        <p:spPr>
          <a:xfrm>
            <a:off x="4297680" y="3191256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service / maintenance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E212A9BF-6AC1-876A-4F7B-D4425314FD45}"/>
              </a:ext>
            </a:extLst>
          </p:cNvPr>
          <p:cNvSpPr/>
          <p:nvPr/>
        </p:nvSpPr>
        <p:spPr>
          <a:xfrm>
            <a:off x="6304605" y="3191256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€20,000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9CD22B38-5641-B1C6-F70C-0965E188292C}"/>
              </a:ext>
            </a:extLst>
          </p:cNvPr>
          <p:cNvSpPr/>
          <p:nvPr/>
        </p:nvSpPr>
        <p:spPr>
          <a:xfrm>
            <a:off x="8046720" y="3191256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service / maintenance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6B3F81B5-FC57-81F2-09BF-D18D80CB06AD}"/>
              </a:ext>
            </a:extLst>
          </p:cNvPr>
          <p:cNvSpPr/>
          <p:nvPr/>
        </p:nvSpPr>
        <p:spPr>
          <a:xfrm>
            <a:off x="10155692" y="3191256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Included (pass-through cost of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€20,000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from existing fleet)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89AF3895-4F26-A5E7-004C-532343889EC8}"/>
              </a:ext>
            </a:extLst>
          </p:cNvPr>
          <p:cNvSpPr/>
          <p:nvPr/>
        </p:nvSpPr>
        <p:spPr>
          <a:xfrm>
            <a:off x="530352" y="3447288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7DEED52D-3491-D050-6CE4-647790D01C1F}"/>
              </a:ext>
            </a:extLst>
          </p:cNvPr>
          <p:cNvSpPr/>
          <p:nvPr/>
        </p:nvSpPr>
        <p:spPr>
          <a:xfrm>
            <a:off x="4297680" y="3447288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33F83333-F3AD-D93C-B8E1-92710837C2B2}"/>
              </a:ext>
            </a:extLst>
          </p:cNvPr>
          <p:cNvSpPr/>
          <p:nvPr/>
        </p:nvSpPr>
        <p:spPr>
          <a:xfrm>
            <a:off x="8046720" y="3447288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0B9747BA-7086-9FC2-EC52-6F850648C5FE}"/>
              </a:ext>
            </a:extLst>
          </p:cNvPr>
          <p:cNvSpPr/>
          <p:nvPr/>
        </p:nvSpPr>
        <p:spPr>
          <a:xfrm>
            <a:off x="530352" y="3529584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retraining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3D760FA0-E38F-8E57-FE5B-16360EDD20FB}"/>
              </a:ext>
            </a:extLst>
          </p:cNvPr>
          <p:cNvSpPr/>
          <p:nvPr/>
        </p:nvSpPr>
        <p:spPr>
          <a:xfrm>
            <a:off x="2537277" y="3529584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€7,500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7790BE8B-F5A9-0A17-E5A2-20DE657728C8}"/>
              </a:ext>
            </a:extLst>
          </p:cNvPr>
          <p:cNvSpPr/>
          <p:nvPr/>
        </p:nvSpPr>
        <p:spPr>
          <a:xfrm>
            <a:off x="4297680" y="3529584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retraining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05964182-A7E9-A051-E84D-982D4826D149}"/>
              </a:ext>
            </a:extLst>
          </p:cNvPr>
          <p:cNvSpPr/>
          <p:nvPr/>
        </p:nvSpPr>
        <p:spPr>
          <a:xfrm>
            <a:off x="6304605" y="3529584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€7,500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2BB6C828-4754-0DBE-01B3-82033D568FD1}"/>
              </a:ext>
            </a:extLst>
          </p:cNvPr>
          <p:cNvSpPr/>
          <p:nvPr/>
        </p:nvSpPr>
        <p:spPr>
          <a:xfrm>
            <a:off x="8046720" y="3529584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Installation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1FA18922-536A-F89F-A991-5A34B3986F75}"/>
              </a:ext>
            </a:extLst>
          </p:cNvPr>
          <p:cNvSpPr/>
          <p:nvPr/>
        </p:nvSpPr>
        <p:spPr>
          <a:xfrm>
            <a:off x="10155692" y="3529584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€1,800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5AC2D90F-3733-7BDF-76D0-0D074ADB26E1}"/>
              </a:ext>
            </a:extLst>
          </p:cNvPr>
          <p:cNvSpPr/>
          <p:nvPr/>
        </p:nvSpPr>
        <p:spPr>
          <a:xfrm>
            <a:off x="530352" y="3913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5AF4274D-FA4B-3144-B5CA-AE6968085C18}"/>
              </a:ext>
            </a:extLst>
          </p:cNvPr>
          <p:cNvSpPr/>
          <p:nvPr/>
        </p:nvSpPr>
        <p:spPr>
          <a:xfrm>
            <a:off x="4297680" y="3913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71C56864-9490-8A3F-3AFE-AF42D0494AFA}"/>
              </a:ext>
            </a:extLst>
          </p:cNvPr>
          <p:cNvSpPr/>
          <p:nvPr/>
        </p:nvSpPr>
        <p:spPr>
          <a:xfrm>
            <a:off x="8046720" y="39136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0572396F-C18A-8C96-5E9C-78FE8FE9D5A2}"/>
              </a:ext>
            </a:extLst>
          </p:cNvPr>
          <p:cNvSpPr/>
          <p:nvPr/>
        </p:nvSpPr>
        <p:spPr>
          <a:xfrm>
            <a:off x="530352" y="3986784"/>
            <a:ext cx="17803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07F266F3-6A3B-0D98-33A1-146DB704A728}"/>
              </a:ext>
            </a:extLst>
          </p:cNvPr>
          <p:cNvSpPr/>
          <p:nvPr/>
        </p:nvSpPr>
        <p:spPr>
          <a:xfrm>
            <a:off x="2310689" y="3986784"/>
            <a:ext cx="14566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854F0B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€542,500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F5003198-F737-2539-E4AB-DC5C84335004}"/>
              </a:ext>
            </a:extLst>
          </p:cNvPr>
          <p:cNvSpPr/>
          <p:nvPr/>
        </p:nvSpPr>
        <p:spPr>
          <a:xfrm>
            <a:off x="4297680" y="3986784"/>
            <a:ext cx="17803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 </a:t>
            </a:r>
            <a:r>
              <a:rPr kumimoji="0" 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excl.remaining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costs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5E51E086-C73C-82DE-FBE3-82EE13B16C04}"/>
              </a:ext>
            </a:extLst>
          </p:cNvPr>
          <p:cNvSpPr/>
          <p:nvPr/>
        </p:nvSpPr>
        <p:spPr>
          <a:xfrm>
            <a:off x="6078017" y="3986784"/>
            <a:ext cx="14566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3C348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€237,500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F4A4B577-605B-D9FA-BE71-9B6FD2B28C67}"/>
              </a:ext>
            </a:extLst>
          </p:cNvPr>
          <p:cNvSpPr/>
          <p:nvPr/>
        </p:nvSpPr>
        <p:spPr>
          <a:xfrm>
            <a:off x="8046720" y="3986784"/>
            <a:ext cx="18708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16C71285-0FF0-154E-C83E-D061A930FBB6}"/>
              </a:ext>
            </a:extLst>
          </p:cNvPr>
          <p:cNvSpPr/>
          <p:nvPr/>
        </p:nvSpPr>
        <p:spPr>
          <a:xfrm>
            <a:off x="9917582" y="3986784"/>
            <a:ext cx="15307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3C348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€163,800</a:t>
            </a:r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2A540A90-C087-1507-2E35-0F47BA386CEC}"/>
              </a:ext>
            </a:extLst>
          </p:cNvPr>
          <p:cNvSpPr/>
          <p:nvPr/>
        </p:nvSpPr>
        <p:spPr>
          <a:xfrm>
            <a:off x="530352" y="42611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E8411B4D-3932-9849-43CD-131DC67D4D23}"/>
              </a:ext>
            </a:extLst>
          </p:cNvPr>
          <p:cNvSpPr/>
          <p:nvPr/>
        </p:nvSpPr>
        <p:spPr>
          <a:xfrm>
            <a:off x="4297680" y="42611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671881B6-A87D-BFB3-53C0-3180861D964B}"/>
              </a:ext>
            </a:extLst>
          </p:cNvPr>
          <p:cNvSpPr/>
          <p:nvPr/>
        </p:nvSpPr>
        <p:spPr>
          <a:xfrm>
            <a:off x="8046720" y="4261104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0C06097C-0C62-A925-E25F-81B2D107CC91}"/>
              </a:ext>
            </a:extLst>
          </p:cNvPr>
          <p:cNvSpPr/>
          <p:nvPr/>
        </p:nvSpPr>
        <p:spPr>
          <a:xfrm>
            <a:off x="530352" y="4315968"/>
            <a:ext cx="20069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which upfront capex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Text 85">
            <a:extLst>
              <a:ext uri="{FF2B5EF4-FFF2-40B4-BE49-F238E27FC236}">
                <a16:creationId xmlns:a16="http://schemas.microsoft.com/office/drawing/2014/main" id="{FAFB66C4-D52F-951E-B7CE-87A78C09ECAF}"/>
              </a:ext>
            </a:extLst>
          </p:cNvPr>
          <p:cNvSpPr/>
          <p:nvPr/>
        </p:nvSpPr>
        <p:spPr>
          <a:xfrm>
            <a:off x="2537277" y="4315968"/>
            <a:ext cx="12300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>
                <a:ln>
                  <a:noFill/>
                </a:ln>
                <a:solidFill>
                  <a:srgbClr val="854F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€375,000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6A405AAA-F64A-D3BE-4538-2A22F9A634F0}"/>
              </a:ext>
            </a:extLst>
          </p:cNvPr>
          <p:cNvSpPr/>
          <p:nvPr/>
        </p:nvSpPr>
        <p:spPr>
          <a:xfrm>
            <a:off x="4297680" y="4315968"/>
            <a:ext cx="20069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which upfront (integration)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Text 87">
            <a:extLst>
              <a:ext uri="{FF2B5EF4-FFF2-40B4-BE49-F238E27FC236}">
                <a16:creationId xmlns:a16="http://schemas.microsoft.com/office/drawing/2014/main" id="{89C491AE-E59D-0B01-D7B3-F38E57CACD7D}"/>
              </a:ext>
            </a:extLst>
          </p:cNvPr>
          <p:cNvSpPr/>
          <p:nvPr/>
        </p:nvSpPr>
        <p:spPr>
          <a:xfrm>
            <a:off x="6304605" y="4315968"/>
            <a:ext cx="12300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>
                <a:ln>
                  <a:noFill/>
                </a:ln>
                <a:solidFill>
                  <a:srgbClr val="3C348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€50,000</a:t>
            </a:r>
            <a:endParaRPr kumimoji="0" lang="en-US" sz="800" b="1" i="1" u="none" strike="noStrike" kern="1200" cap="none" spc="0" normalizeH="0" baseline="0" noProof="0">
              <a:ln>
                <a:noFill/>
              </a:ln>
              <a:solidFill>
                <a:srgbClr val="3C3489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C49CCF3B-275C-3EEB-AB28-763534A9866D}"/>
              </a:ext>
            </a:extLst>
          </p:cNvPr>
          <p:cNvSpPr/>
          <p:nvPr/>
        </p:nvSpPr>
        <p:spPr>
          <a:xfrm>
            <a:off x="8046720" y="4315968"/>
            <a:ext cx="21089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which upfront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Text 89">
            <a:extLst>
              <a:ext uri="{FF2B5EF4-FFF2-40B4-BE49-F238E27FC236}">
                <a16:creationId xmlns:a16="http://schemas.microsoft.com/office/drawing/2014/main" id="{88932433-F0EF-689F-3B1A-0CBD1C781162}"/>
              </a:ext>
            </a:extLst>
          </p:cNvPr>
          <p:cNvSpPr/>
          <p:nvPr/>
        </p:nvSpPr>
        <p:spPr>
          <a:xfrm>
            <a:off x="10155692" y="4315968"/>
            <a:ext cx="12925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€1,800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81B55453-3409-EDD1-9110-567EBE5AF517}"/>
              </a:ext>
            </a:extLst>
          </p:cNvPr>
          <p:cNvSpPr/>
          <p:nvPr/>
        </p:nvSpPr>
        <p:spPr>
          <a:xfrm>
            <a:off x="365760" y="653796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1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List price basis: €65,000/unit (arculee M / EAE 212a — industry estimate) · Standard lease: €750/unit/month · 50% DHL Tier 1 discount applied throughout all line items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Text 18">
            <a:extLst>
              <a:ext uri="{FF2B5EF4-FFF2-40B4-BE49-F238E27FC236}">
                <a16:creationId xmlns:a16="http://schemas.microsoft.com/office/drawing/2014/main" id="{F4B99FDF-48C1-C7D3-C98A-442F77BD0996}"/>
              </a:ext>
            </a:extLst>
          </p:cNvPr>
          <p:cNvSpPr/>
          <p:nvPr/>
        </p:nvSpPr>
        <p:spPr>
          <a:xfrm>
            <a:off x="8904030" y="154042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€1350/</a:t>
            </a: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Text 18">
            <a:extLst>
              <a:ext uri="{FF2B5EF4-FFF2-40B4-BE49-F238E27FC236}">
                <a16:creationId xmlns:a16="http://schemas.microsoft.com/office/drawing/2014/main" id="{516415C8-6D58-AF6C-AE71-7890B453D39D}"/>
              </a:ext>
            </a:extLst>
          </p:cNvPr>
          <p:cNvSpPr/>
          <p:nvPr/>
        </p:nvSpPr>
        <p:spPr>
          <a:xfrm>
            <a:off x="8369130" y="4775031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x2 the output of AMRs 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ECA4FB-B635-1467-75A3-0906DB96C653}"/>
              </a:ext>
            </a:extLst>
          </p:cNvPr>
          <p:cNvSpPr txBox="1"/>
          <p:nvPr/>
        </p:nvSpPr>
        <p:spPr>
          <a:xfrm>
            <a:off x="530351" y="4850296"/>
            <a:ext cx="3137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Battery – lithium or not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4306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9AC697-387B-9B09-D301-6C1ED40A3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88C902D-F5A9-1D76-87B9-82133E552AAF}"/>
              </a:ext>
            </a:extLst>
          </p:cNvPr>
          <p:cNvSpPr/>
          <p:nvPr/>
        </p:nvSpPr>
        <p:spPr>
          <a:xfrm>
            <a:off x="365760" y="137160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800" b="1" i="0" u="none" strike="noStrike" kern="0" cap="none" spc="20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COST COMPARISON — GXO AMR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5F3D991-2339-E370-A0B6-F82C90CD288F}"/>
              </a:ext>
            </a:extLst>
          </p:cNvPr>
          <p:cNvSpPr/>
          <p:nvPr/>
        </p:nvSpPr>
        <p:spPr>
          <a:xfrm>
            <a:off x="228600" y="489204"/>
            <a:ext cx="3566160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B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EAFE232-115D-1A7B-4605-446011EA08B6}"/>
              </a:ext>
            </a:extLst>
          </p:cNvPr>
          <p:cNvSpPr/>
          <p:nvPr/>
        </p:nvSpPr>
        <p:spPr>
          <a:xfrm>
            <a:off x="530352" y="521208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FDF3E0"/>
          </a:solidFill>
          <a:ln w="12700">
            <a:solidFill>
              <a:srgbClr val="FDF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9F9E405-EBE5-E7B5-0BB6-CB8E263FCF0E}"/>
              </a:ext>
            </a:extLst>
          </p:cNvPr>
          <p:cNvSpPr/>
          <p:nvPr/>
        </p:nvSpPr>
        <p:spPr>
          <a:xfrm>
            <a:off x="530352" y="521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7F55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Tier 1 · capex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7071CF7-5F05-9475-B39B-5079D8D02C66}"/>
              </a:ext>
            </a:extLst>
          </p:cNvPr>
          <p:cNvSpPr/>
          <p:nvPr/>
        </p:nvSpPr>
        <p:spPr>
          <a:xfrm>
            <a:off x="530352" y="777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Jungheinrich AMR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2B40B74-3FAD-CD30-46DA-74A2E5F2F616}"/>
              </a:ext>
            </a:extLst>
          </p:cNvPr>
          <p:cNvSpPr/>
          <p:nvPr/>
        </p:nvSpPr>
        <p:spPr>
          <a:xfrm>
            <a:off x="530352" y="10698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·10 units (mid-sized warehouse)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outright purchase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FF7FDEF-0E18-0CCD-C78D-1D1BAB047AC2}"/>
              </a:ext>
            </a:extLst>
          </p:cNvPr>
          <p:cNvSpPr/>
          <p:nvPr/>
        </p:nvSpPr>
        <p:spPr>
          <a:xfrm>
            <a:off x="530352" y="15087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0C5E622-4B68-5024-DEB9-637ED512CE8A}"/>
              </a:ext>
            </a:extLst>
          </p:cNvPr>
          <p:cNvSpPr/>
          <p:nvPr/>
        </p:nvSpPr>
        <p:spPr>
          <a:xfrm>
            <a:off x="2718968" y="1508759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€100,000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767A50C-9343-5EA6-5E3B-768F289AE552}"/>
              </a:ext>
            </a:extLst>
          </p:cNvPr>
          <p:cNvSpPr/>
          <p:nvPr/>
        </p:nvSpPr>
        <p:spPr>
          <a:xfrm>
            <a:off x="530352" y="1847088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 unit after 20% discount · hardware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BABCA23-F5E9-D556-6115-C882F7376059}"/>
              </a:ext>
            </a:extLst>
          </p:cNvPr>
          <p:cNvSpPr/>
          <p:nvPr/>
        </p:nvSpPr>
        <p:spPr>
          <a:xfrm>
            <a:off x="530352" y="20848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6C0895D-AEF0-D2C4-719D-6E342203DD01}"/>
              </a:ext>
            </a:extLst>
          </p:cNvPr>
          <p:cNvSpPr/>
          <p:nvPr/>
        </p:nvSpPr>
        <p:spPr>
          <a:xfrm>
            <a:off x="4297680" y="15727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8D7DD06-2D24-57F7-0069-1BD51D7A7731}"/>
              </a:ext>
            </a:extLst>
          </p:cNvPr>
          <p:cNvSpPr/>
          <p:nvPr/>
        </p:nvSpPr>
        <p:spPr>
          <a:xfrm>
            <a:off x="7900416" y="352044"/>
            <a:ext cx="3730752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7B22C05F-AB20-6574-33F2-98D185100654}"/>
              </a:ext>
            </a:extLst>
          </p:cNvPr>
          <p:cNvSpPr/>
          <p:nvPr/>
        </p:nvSpPr>
        <p:spPr>
          <a:xfrm>
            <a:off x="8046720" y="521208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F940ED7-EAF1-17C7-70CF-549B803C1756}"/>
              </a:ext>
            </a:extLst>
          </p:cNvPr>
          <p:cNvSpPr/>
          <p:nvPr/>
        </p:nvSpPr>
        <p:spPr>
          <a:xfrm>
            <a:off x="8046720" y="521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C447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Hive Autonomy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5B182A5-40CC-5568-7187-70E31138CF09}"/>
              </a:ext>
            </a:extLst>
          </p:cNvPr>
          <p:cNvSpPr/>
          <p:nvPr/>
        </p:nvSpPr>
        <p:spPr>
          <a:xfrm>
            <a:off x="8046720" y="7772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autonomous ops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E5A8560-B6B4-6AD0-9DA8-04F1D9AA4FF3}"/>
              </a:ext>
            </a:extLst>
          </p:cNvPr>
          <p:cNvSpPr/>
          <p:nvPr/>
        </p:nvSpPr>
        <p:spPr>
          <a:xfrm>
            <a:off x="8046720" y="1069848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Service model · full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opex</a:t>
            </a:r>
            <a:endParaRPr kumimoji="0" lang="en-US" sz="9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no upfront commitment – counter-balanced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D97E0E4-159F-4289-5AAE-E8AE3CD48C4A}"/>
              </a:ext>
            </a:extLst>
          </p:cNvPr>
          <p:cNvSpPr/>
          <p:nvPr/>
        </p:nvSpPr>
        <p:spPr>
          <a:xfrm>
            <a:off x="8046720" y="1508760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A1417CB-218D-9765-3C2E-A351C11441F2}"/>
              </a:ext>
            </a:extLst>
          </p:cNvPr>
          <p:cNvSpPr/>
          <p:nvPr/>
        </p:nvSpPr>
        <p:spPr>
          <a:xfrm>
            <a:off x="8046720" y="1847088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 shift / per unit · per SOW/two shifts; 24/5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47E750AE-CB7F-6FB5-523C-4F93FC7E8462}"/>
              </a:ext>
            </a:extLst>
          </p:cNvPr>
          <p:cNvSpPr/>
          <p:nvPr/>
        </p:nvSpPr>
        <p:spPr>
          <a:xfrm>
            <a:off x="8046720" y="20848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400C2108-210A-C0D7-074E-E7E442C9EAC3}"/>
              </a:ext>
            </a:extLst>
          </p:cNvPr>
          <p:cNvSpPr/>
          <p:nvPr/>
        </p:nvSpPr>
        <p:spPr>
          <a:xfrm>
            <a:off x="530352" y="2176272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Hardware (10 units)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09F7BD17-8CFA-C6D1-AF9A-35DFBDEF348A}"/>
              </a:ext>
            </a:extLst>
          </p:cNvPr>
          <p:cNvSpPr/>
          <p:nvPr/>
        </p:nvSpPr>
        <p:spPr>
          <a:xfrm>
            <a:off x="2537277" y="2176272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€1,000,000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524D1A7-C946-4131-7CA4-0C9424114D4D}"/>
              </a:ext>
            </a:extLst>
          </p:cNvPr>
          <p:cNvSpPr/>
          <p:nvPr/>
        </p:nvSpPr>
        <p:spPr>
          <a:xfrm>
            <a:off x="4297680" y="2176272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A541A806-7CE2-9285-3EAE-B173D8D1158D}"/>
              </a:ext>
            </a:extLst>
          </p:cNvPr>
          <p:cNvSpPr/>
          <p:nvPr/>
        </p:nvSpPr>
        <p:spPr>
          <a:xfrm>
            <a:off x="8046720" y="2176272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Hardware (10 units)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CFCCB8BE-1342-310C-FA87-68A847EDD468}"/>
              </a:ext>
            </a:extLst>
          </p:cNvPr>
          <p:cNvSpPr/>
          <p:nvPr/>
        </p:nvSpPr>
        <p:spPr>
          <a:xfrm>
            <a:off x="10155692" y="2176272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€1,038,000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A1519BA3-C570-0D81-E8C3-527745DE3921}"/>
              </a:ext>
            </a:extLst>
          </p:cNvPr>
          <p:cNvSpPr/>
          <p:nvPr/>
        </p:nvSpPr>
        <p:spPr>
          <a:xfrm>
            <a:off x="530352" y="24323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AA4B0C69-D8A8-1B74-0B90-69FDE0089873}"/>
              </a:ext>
            </a:extLst>
          </p:cNvPr>
          <p:cNvSpPr/>
          <p:nvPr/>
        </p:nvSpPr>
        <p:spPr>
          <a:xfrm>
            <a:off x="8101584" y="2432304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562AA78C-0E78-67FB-0A16-7DC1B002123B}"/>
              </a:ext>
            </a:extLst>
          </p:cNvPr>
          <p:cNvSpPr/>
          <p:nvPr/>
        </p:nvSpPr>
        <p:spPr>
          <a:xfrm>
            <a:off x="530352" y="2514600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+ commissioning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A04DD0A7-6BDB-DDE2-E661-331C17039009}"/>
              </a:ext>
            </a:extLst>
          </p:cNvPr>
          <p:cNvSpPr/>
          <p:nvPr/>
        </p:nvSpPr>
        <p:spPr>
          <a:xfrm>
            <a:off x="2537277" y="2514600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€300,000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6AF00D26-150D-B1A8-C4FB-487D7B5322D0}"/>
              </a:ext>
            </a:extLst>
          </p:cNvPr>
          <p:cNvSpPr/>
          <p:nvPr/>
        </p:nvSpPr>
        <p:spPr>
          <a:xfrm>
            <a:off x="8046720" y="2514600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+ commissioning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369C934C-ACD2-73C9-F2C8-71FABF4159F8}"/>
              </a:ext>
            </a:extLst>
          </p:cNvPr>
          <p:cNvSpPr/>
          <p:nvPr/>
        </p:nvSpPr>
        <p:spPr>
          <a:xfrm>
            <a:off x="10155692" y="2514600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926FA40D-19E2-8381-23C1-26A41B025855}"/>
              </a:ext>
            </a:extLst>
          </p:cNvPr>
          <p:cNvSpPr/>
          <p:nvPr/>
        </p:nvSpPr>
        <p:spPr>
          <a:xfrm>
            <a:off x="530352" y="2770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4DEA9DE9-0818-3676-3BF9-20F1CC0ED7AF}"/>
              </a:ext>
            </a:extLst>
          </p:cNvPr>
          <p:cNvSpPr/>
          <p:nvPr/>
        </p:nvSpPr>
        <p:spPr>
          <a:xfrm>
            <a:off x="4297680" y="2770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1A200FCB-7985-BCF9-BA77-F745A83BAA0B}"/>
              </a:ext>
            </a:extLst>
          </p:cNvPr>
          <p:cNvSpPr/>
          <p:nvPr/>
        </p:nvSpPr>
        <p:spPr>
          <a:xfrm>
            <a:off x="8046720" y="27706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3AA8607C-97D0-6F1F-98BE-2C2F2D64973B}"/>
              </a:ext>
            </a:extLst>
          </p:cNvPr>
          <p:cNvSpPr/>
          <p:nvPr/>
        </p:nvSpPr>
        <p:spPr>
          <a:xfrm>
            <a:off x="530352" y="2852928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Fleet mgmt software (yr 1)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8A1B6498-64C4-E22C-7C14-954D8A1267D9}"/>
              </a:ext>
            </a:extLst>
          </p:cNvPr>
          <p:cNvSpPr/>
          <p:nvPr/>
        </p:nvSpPr>
        <p:spPr>
          <a:xfrm>
            <a:off x="2537277" y="2852928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€30,000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77E5D948-5612-D66E-3E46-4855E5F3F2E7}"/>
              </a:ext>
            </a:extLst>
          </p:cNvPr>
          <p:cNvSpPr/>
          <p:nvPr/>
        </p:nvSpPr>
        <p:spPr>
          <a:xfrm>
            <a:off x="8046720" y="2852928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Fleet mgmt software (yr 1)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02F3C98C-09E3-950B-BD22-C0DC6E3D3214}"/>
              </a:ext>
            </a:extLst>
          </p:cNvPr>
          <p:cNvSpPr/>
          <p:nvPr/>
        </p:nvSpPr>
        <p:spPr>
          <a:xfrm>
            <a:off x="10155692" y="2852928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0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170A5884-90A8-E2BA-FFE6-77C1FE2829EB}"/>
              </a:ext>
            </a:extLst>
          </p:cNvPr>
          <p:cNvSpPr/>
          <p:nvPr/>
        </p:nvSpPr>
        <p:spPr>
          <a:xfrm>
            <a:off x="530352" y="31089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C5A0C5E2-A33B-503C-EB81-6F5B3634AC2C}"/>
              </a:ext>
            </a:extLst>
          </p:cNvPr>
          <p:cNvSpPr/>
          <p:nvPr/>
        </p:nvSpPr>
        <p:spPr>
          <a:xfrm>
            <a:off x="4297680" y="31089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5F9AB200-9348-B263-E7F9-51CF89AE0EAA}"/>
              </a:ext>
            </a:extLst>
          </p:cNvPr>
          <p:cNvSpPr/>
          <p:nvPr/>
        </p:nvSpPr>
        <p:spPr>
          <a:xfrm>
            <a:off x="8046720" y="3108960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CEF1FFE9-F395-004F-933A-2CBFAE50261A}"/>
              </a:ext>
            </a:extLst>
          </p:cNvPr>
          <p:cNvSpPr/>
          <p:nvPr/>
        </p:nvSpPr>
        <p:spPr>
          <a:xfrm>
            <a:off x="530352" y="3191256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service / maintenance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411114FA-3BE6-8E06-39CC-6FAC06B1DCF1}"/>
              </a:ext>
            </a:extLst>
          </p:cNvPr>
          <p:cNvSpPr/>
          <p:nvPr/>
        </p:nvSpPr>
        <p:spPr>
          <a:xfrm>
            <a:off x="2537277" y="3191256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€20,000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478F362A-16D8-174C-99E4-36E97A7EB496}"/>
              </a:ext>
            </a:extLst>
          </p:cNvPr>
          <p:cNvSpPr/>
          <p:nvPr/>
        </p:nvSpPr>
        <p:spPr>
          <a:xfrm>
            <a:off x="8046720" y="3191256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service / maintenance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8035A097-3E29-80CD-2F07-1FD15A7401FB}"/>
              </a:ext>
            </a:extLst>
          </p:cNvPr>
          <p:cNvSpPr/>
          <p:nvPr/>
        </p:nvSpPr>
        <p:spPr>
          <a:xfrm>
            <a:off x="10155692" y="3191256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Included (pass-through cost of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€20,000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from existing fleet)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E8C0CD2C-0000-0182-3A8D-B32886C38082}"/>
              </a:ext>
            </a:extLst>
          </p:cNvPr>
          <p:cNvSpPr/>
          <p:nvPr/>
        </p:nvSpPr>
        <p:spPr>
          <a:xfrm>
            <a:off x="530352" y="3447288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7AAD5679-4249-F241-C5E4-90EE1B173067}"/>
              </a:ext>
            </a:extLst>
          </p:cNvPr>
          <p:cNvSpPr/>
          <p:nvPr/>
        </p:nvSpPr>
        <p:spPr>
          <a:xfrm>
            <a:off x="4297680" y="3447288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2C3E8930-8AB8-B7CE-C815-835416D6B620}"/>
              </a:ext>
            </a:extLst>
          </p:cNvPr>
          <p:cNvSpPr/>
          <p:nvPr/>
        </p:nvSpPr>
        <p:spPr>
          <a:xfrm>
            <a:off x="8046720" y="3447288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8D3C3770-5186-485D-6DEB-8BA69CF9309D}"/>
              </a:ext>
            </a:extLst>
          </p:cNvPr>
          <p:cNvSpPr/>
          <p:nvPr/>
        </p:nvSpPr>
        <p:spPr>
          <a:xfrm>
            <a:off x="530352" y="3529584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retraining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8AE759CA-DA29-249D-32D0-354626594145}"/>
              </a:ext>
            </a:extLst>
          </p:cNvPr>
          <p:cNvSpPr/>
          <p:nvPr/>
        </p:nvSpPr>
        <p:spPr>
          <a:xfrm>
            <a:off x="2537277" y="3529584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€7,500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2305DF94-7066-34BA-F36E-A41817812958}"/>
              </a:ext>
            </a:extLst>
          </p:cNvPr>
          <p:cNvSpPr/>
          <p:nvPr/>
        </p:nvSpPr>
        <p:spPr>
          <a:xfrm>
            <a:off x="6304605" y="3529584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A5E0ED87-51F7-5C59-B42E-5F7FAB1A5ED0}"/>
              </a:ext>
            </a:extLst>
          </p:cNvPr>
          <p:cNvSpPr/>
          <p:nvPr/>
        </p:nvSpPr>
        <p:spPr>
          <a:xfrm>
            <a:off x="8046720" y="3529584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Installation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23789CD8-FE07-66CF-E662-2F73C74F512D}"/>
              </a:ext>
            </a:extLst>
          </p:cNvPr>
          <p:cNvSpPr/>
          <p:nvPr/>
        </p:nvSpPr>
        <p:spPr>
          <a:xfrm>
            <a:off x="10155692" y="3529584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900" b="1" dirty="0">
                <a:solidFill>
                  <a:srgbClr val="27500A"/>
                </a:solidFill>
                <a:latin typeface="Calibri"/>
                <a:ea typeface="Calibri"/>
                <a:cs typeface="Calibri"/>
              </a:rPr>
              <a:t>2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0,000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1ECE6B8B-CF15-0EEB-EB33-A9381470B279}"/>
              </a:ext>
            </a:extLst>
          </p:cNvPr>
          <p:cNvSpPr/>
          <p:nvPr/>
        </p:nvSpPr>
        <p:spPr>
          <a:xfrm>
            <a:off x="530352" y="3913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854C098A-CF1C-052E-28C9-C0A992F35E23}"/>
              </a:ext>
            </a:extLst>
          </p:cNvPr>
          <p:cNvSpPr/>
          <p:nvPr/>
        </p:nvSpPr>
        <p:spPr>
          <a:xfrm>
            <a:off x="4297680" y="3913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060F7124-BA61-3E7C-C457-63F0D06387D9}"/>
              </a:ext>
            </a:extLst>
          </p:cNvPr>
          <p:cNvSpPr/>
          <p:nvPr/>
        </p:nvSpPr>
        <p:spPr>
          <a:xfrm>
            <a:off x="8046720" y="39136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F070F4FD-26D4-4167-B7BB-B01A0AF82C1B}"/>
              </a:ext>
            </a:extLst>
          </p:cNvPr>
          <p:cNvSpPr/>
          <p:nvPr/>
        </p:nvSpPr>
        <p:spPr>
          <a:xfrm>
            <a:off x="530352" y="3986784"/>
            <a:ext cx="17803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744D1811-642F-0DD4-C0BD-CF126B17AB37}"/>
              </a:ext>
            </a:extLst>
          </p:cNvPr>
          <p:cNvSpPr/>
          <p:nvPr/>
        </p:nvSpPr>
        <p:spPr>
          <a:xfrm>
            <a:off x="2310689" y="3986784"/>
            <a:ext cx="14566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54F0B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€1,357,500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532E4C05-0E10-CEA0-6C73-5A8D44DFEFC4}"/>
              </a:ext>
            </a:extLst>
          </p:cNvPr>
          <p:cNvSpPr/>
          <p:nvPr/>
        </p:nvSpPr>
        <p:spPr>
          <a:xfrm>
            <a:off x="4297680" y="3986784"/>
            <a:ext cx="17803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CC1F0247-D856-C4AC-0D51-FA27E9EAF7ED}"/>
              </a:ext>
            </a:extLst>
          </p:cNvPr>
          <p:cNvSpPr/>
          <p:nvPr/>
        </p:nvSpPr>
        <p:spPr>
          <a:xfrm>
            <a:off x="6078017" y="3986784"/>
            <a:ext cx="14566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766DEB99-E29A-C1AE-94BD-C0D208F4E4F2}"/>
              </a:ext>
            </a:extLst>
          </p:cNvPr>
          <p:cNvSpPr/>
          <p:nvPr/>
        </p:nvSpPr>
        <p:spPr>
          <a:xfrm>
            <a:off x="8046720" y="3986784"/>
            <a:ext cx="18708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9A7935F2-D458-1A2A-CDE7-368DE790D901}"/>
              </a:ext>
            </a:extLst>
          </p:cNvPr>
          <p:cNvSpPr/>
          <p:nvPr/>
        </p:nvSpPr>
        <p:spPr>
          <a:xfrm>
            <a:off x="9917582" y="3986784"/>
            <a:ext cx="15307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C348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€1,058,800 </a:t>
            </a:r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799F9724-8948-400F-B56B-CB529C7329D4}"/>
              </a:ext>
            </a:extLst>
          </p:cNvPr>
          <p:cNvSpPr/>
          <p:nvPr/>
        </p:nvSpPr>
        <p:spPr>
          <a:xfrm>
            <a:off x="530352" y="42611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C5CD01C2-8FCC-2BD1-61CD-43B5EF4981D8}"/>
              </a:ext>
            </a:extLst>
          </p:cNvPr>
          <p:cNvSpPr/>
          <p:nvPr/>
        </p:nvSpPr>
        <p:spPr>
          <a:xfrm>
            <a:off x="4297680" y="42611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2FA8B737-96F4-70A0-5160-4A19916E71F8}"/>
              </a:ext>
            </a:extLst>
          </p:cNvPr>
          <p:cNvSpPr/>
          <p:nvPr/>
        </p:nvSpPr>
        <p:spPr>
          <a:xfrm>
            <a:off x="8046720" y="4261104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6A6C3D5E-A52D-F341-9A7B-C000CEA1F2A5}"/>
              </a:ext>
            </a:extLst>
          </p:cNvPr>
          <p:cNvSpPr/>
          <p:nvPr/>
        </p:nvSpPr>
        <p:spPr>
          <a:xfrm>
            <a:off x="530352" y="4315968"/>
            <a:ext cx="20069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which upfront capex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Text 85">
            <a:extLst>
              <a:ext uri="{FF2B5EF4-FFF2-40B4-BE49-F238E27FC236}">
                <a16:creationId xmlns:a16="http://schemas.microsoft.com/office/drawing/2014/main" id="{6D2A2C59-511C-F2A6-9CE2-457D3C3FE8AA}"/>
              </a:ext>
            </a:extLst>
          </p:cNvPr>
          <p:cNvSpPr/>
          <p:nvPr/>
        </p:nvSpPr>
        <p:spPr>
          <a:xfrm>
            <a:off x="2537277" y="4315968"/>
            <a:ext cx="12300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 dirty="0">
                <a:ln>
                  <a:noFill/>
                </a:ln>
                <a:solidFill>
                  <a:srgbClr val="854F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€1,000,000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4DFA4DB2-9894-DC5C-EB12-9EB3B071EE71}"/>
              </a:ext>
            </a:extLst>
          </p:cNvPr>
          <p:cNvSpPr/>
          <p:nvPr/>
        </p:nvSpPr>
        <p:spPr>
          <a:xfrm>
            <a:off x="8046720" y="4315968"/>
            <a:ext cx="21089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which upfront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Text 89">
            <a:extLst>
              <a:ext uri="{FF2B5EF4-FFF2-40B4-BE49-F238E27FC236}">
                <a16:creationId xmlns:a16="http://schemas.microsoft.com/office/drawing/2014/main" id="{2D6EFA86-ADD2-B3AE-F00D-25F357B1973D}"/>
              </a:ext>
            </a:extLst>
          </p:cNvPr>
          <p:cNvSpPr/>
          <p:nvPr/>
        </p:nvSpPr>
        <p:spPr>
          <a:xfrm>
            <a:off x="10155692" y="4315968"/>
            <a:ext cx="12925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 dirty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  or Validation fee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65CB7200-0589-4025-2489-702590FB2D6B}"/>
              </a:ext>
            </a:extLst>
          </p:cNvPr>
          <p:cNvSpPr/>
          <p:nvPr/>
        </p:nvSpPr>
        <p:spPr>
          <a:xfrm>
            <a:off x="365760" y="653796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1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List price basis: €65,000/unit (arculee M / EAE 212a — industry estimate) · Standard lease: €750/unit/month · 50% DHL Tier 1 discount applied throughout all line items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Text 18">
            <a:extLst>
              <a:ext uri="{FF2B5EF4-FFF2-40B4-BE49-F238E27FC236}">
                <a16:creationId xmlns:a16="http://schemas.microsoft.com/office/drawing/2014/main" id="{0AF64729-BF23-07C8-AF77-A86EE49C3F70}"/>
              </a:ext>
            </a:extLst>
          </p:cNvPr>
          <p:cNvSpPr/>
          <p:nvPr/>
        </p:nvSpPr>
        <p:spPr>
          <a:xfrm>
            <a:off x="9101206" y="1457512"/>
            <a:ext cx="4291584" cy="359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€25/</a:t>
            </a:r>
            <a:r>
              <a:rPr kumimoji="0" lang="en-US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€8,650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/month = </a:t>
            </a: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103,800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Text 18">
            <a:extLst>
              <a:ext uri="{FF2B5EF4-FFF2-40B4-BE49-F238E27FC236}">
                <a16:creationId xmlns:a16="http://schemas.microsoft.com/office/drawing/2014/main" id="{60989F8E-0E36-47CE-6E45-5158BED4DD43}"/>
              </a:ext>
            </a:extLst>
          </p:cNvPr>
          <p:cNvSpPr/>
          <p:nvPr/>
        </p:nvSpPr>
        <p:spPr>
          <a:xfrm>
            <a:off x="8138838" y="5056636"/>
            <a:ext cx="4053162" cy="23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X1.5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the output of AMRs on average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b="1" dirty="0">
              <a:solidFill>
                <a:srgbClr val="1A1A1A"/>
              </a:solidFill>
              <a:latin typeface="Calibri" pitchFamily="34" charset="0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-120"/>
              </a:rPr>
              <a:t>At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-120"/>
              </a:rPr>
              <a:t>22% cost saving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-120"/>
              </a:rPr>
              <a:t>from outset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2C90E3-7DB7-CC97-3628-0503FA82C6BE}"/>
              </a:ext>
            </a:extLst>
          </p:cNvPr>
          <p:cNvSpPr txBox="1"/>
          <p:nvPr/>
        </p:nvSpPr>
        <p:spPr>
          <a:xfrm>
            <a:off x="365760" y="4828032"/>
            <a:ext cx="35661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*Potentially battery charge on top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101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8FE937A-C801-604B-ADF9-97B126AF4B2F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483FAD26115AE4B91D1A86E06B5D138" ma:contentTypeVersion="16" ma:contentTypeDescription="Opprett et nytt dokument." ma:contentTypeScope="" ma:versionID="8fa8736b96f8c6ee529418e5ed9154af">
  <xsd:schema xmlns:xsd="http://www.w3.org/2001/XMLSchema" xmlns:xs="http://www.w3.org/2001/XMLSchema" xmlns:p="http://schemas.microsoft.com/office/2006/metadata/properties" xmlns:ns2="b286b3e3-dde1-4b64-87c7-bbf19921eb53" xmlns:ns3="88348dcf-761d-4d7d-ac37-190fc1c0f9b8" targetNamespace="http://schemas.microsoft.com/office/2006/metadata/properties" ma:root="true" ma:fieldsID="1ec34da4178487d824c31cc5f9cc45b8" ns2:_="" ns3:_="">
    <xsd:import namespace="b286b3e3-dde1-4b64-87c7-bbf19921eb53"/>
    <xsd:import namespace="88348dcf-761d-4d7d-ac37-190fc1c0f9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86b3e3-dde1-4b64-87c7-bbf19921eb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emerkelapper" ma:readOnly="false" ma:fieldId="{5cf76f15-5ced-4ddc-b409-7134ff3c332f}" ma:taxonomyMulti="true" ma:sspId="ebf4c788-94a8-4494-a5c7-2bfbed1c09c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348dcf-761d-4d7d-ac37-190fc1c0f9b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c33726e-56ce-46df-b468-042181dc8603}" ma:internalName="TaxCatchAll" ma:showField="CatchAllData" ma:web="88348dcf-761d-4d7d-ac37-190fc1c0f9b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286b3e3-dde1-4b64-87c7-bbf19921eb53">
      <Terms xmlns="http://schemas.microsoft.com/office/infopath/2007/PartnerControls"/>
    </lcf76f155ced4ddcb4097134ff3c332f>
    <TaxCatchAll xmlns="88348dcf-761d-4d7d-ac37-190fc1c0f9b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72F584-E305-434C-870E-849F8AEBF711}">
  <ds:schemaRefs>
    <ds:schemaRef ds:uri="88348dcf-761d-4d7d-ac37-190fc1c0f9b8"/>
    <ds:schemaRef ds:uri="b286b3e3-dde1-4b64-87c7-bbf19921eb5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F285D42-4272-485A-9BF8-1BD8D2CAA93B}">
  <ds:schemaRefs>
    <ds:schemaRef ds:uri="88348dcf-761d-4d7d-ac37-190fc1c0f9b8"/>
    <ds:schemaRef ds:uri="b286b3e3-dde1-4b64-87c7-bbf19921eb53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D06BAD7-F26B-4455-99F7-AA15AADF02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1159</TotalTime>
  <Words>992</Words>
  <Application>Microsoft Macintosh PowerPoint</Application>
  <PresentationFormat>Widescreen</PresentationFormat>
  <Paragraphs>219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DHL AMR Commercial Comparison</dc:title>
  <dc:subject>PptxGenJS Presentation</dc:subject>
  <dc:creator>PptxGenJS</dc:creator>
  <cp:lastModifiedBy>Tatiana Kalinina</cp:lastModifiedBy>
  <cp:revision>214</cp:revision>
  <dcterms:created xsi:type="dcterms:W3CDTF">2026-03-30T15:17:29Z</dcterms:created>
  <dcterms:modified xsi:type="dcterms:W3CDTF">2026-05-26T17:39:05Z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0x0101008483FAD26115AE4B91D1A86E06B5D138</vt:lpwstr>
  </property>
  <property fmtid="{D5CDD505-2E9C-101B-9397-08002B2CF9AE}" pid="3" name="MediaServiceImageTags">
    <vt:lpwstr/>
  </property>
</Properties>
</file>