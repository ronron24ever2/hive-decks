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5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2"/>
    <p:restoredTop sz="94666"/>
  </p:normalViewPr>
  <p:slideViewPr>
    <p:cSldViewPr snapToGrid="0">
      <p:cViewPr varScale="1">
        <p:scale>
          <a:sx n="128" d="100"/>
          <a:sy n="128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475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D225-7D60-496D-FE20-1BE12504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3FB07-5DF6-B48E-9193-665A89209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41C00-78A3-7CEF-6240-2B9AA64E6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B2E4-3C35-BE46-D47F-EA30F8C1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596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854D9-651B-1729-7A87-08AF4668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9DB51F-B49C-3CBE-FC8B-3D18228C651C}"/>
              </a:ext>
            </a:extLst>
          </p:cNvPr>
          <p:cNvSpPr/>
          <p:nvPr/>
        </p:nvSpPr>
        <p:spPr>
          <a:xfrm>
            <a:off x="1510748" y="17990"/>
            <a:ext cx="10285012" cy="320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Hive Autonomy Offer – Pilot and Initial Term Offer for GXO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D313E8-E9BE-F293-B537-C08F87F8FEB0}"/>
              </a:ext>
            </a:extLst>
          </p:cNvPr>
          <p:cNvSpPr/>
          <p:nvPr/>
        </p:nvSpPr>
        <p:spPr>
          <a:xfrm>
            <a:off x="316749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algn="r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7C28C5-CA7F-C084-412B-6CFCE0DA4327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4E5EE3-C0D8-1647-CD7B-D9027E921C48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 – Manual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AC85C1-4E2A-509B-5699-5C828133B9A6}"/>
              </a:ext>
            </a:extLst>
          </p:cNvPr>
          <p:cNvSpPr/>
          <p:nvPr/>
        </p:nvSpPr>
        <p:spPr>
          <a:xfrm>
            <a:off x="530352" y="97095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1 operator unit –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Annual 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CBA8B9D-F385-F13C-F1E4-A2A0CD04857A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75DA56-FE27-8260-27EE-5E2C04552838}"/>
              </a:ext>
            </a:extLst>
          </p:cNvPr>
          <p:cNvSpPr/>
          <p:nvPr/>
        </p:nvSpPr>
        <p:spPr>
          <a:xfrm>
            <a:off x="1823672" y="1576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$55,000 per shift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7DF70B-F44E-B83C-CAFB-C290E7D6F98B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3753080-B2A6-FC4C-9F43-3408BC577748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E0E7F2-5DCA-B78A-B0C5-76C7828DBD5D}"/>
              </a:ext>
            </a:extLst>
          </p:cNvPr>
          <p:cNvSpPr/>
          <p:nvPr/>
        </p:nvSpPr>
        <p:spPr>
          <a:xfrm>
            <a:off x="4133088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2C93B94-D407-D142-8A26-5F1DED46B978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7116A9-8D94-45F7-91BF-26A8CC244EAC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sz="8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5272B2-AE48-624B-5115-BDC76F06D8AD}"/>
              </a:ext>
            </a:extLst>
          </p:cNvPr>
          <p:cNvSpPr/>
          <p:nvPr/>
        </p:nvSpPr>
        <p:spPr>
          <a:xfrm>
            <a:off x="429768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s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upervised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autonomous ops  – 1 shift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7D4FE7-9E3C-3A62-E5A0-AE9000C17156}"/>
              </a:ext>
            </a:extLst>
          </p:cNvPr>
          <p:cNvSpPr/>
          <p:nvPr/>
        </p:nvSpPr>
        <p:spPr>
          <a:xfrm>
            <a:off x="429768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 unit operation - counter-balanced truck – 5 day week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27B26A3-D0A5-7DE5-CD22-8EC1DFA0F457}"/>
              </a:ext>
            </a:extLst>
          </p:cNvPr>
          <p:cNvSpPr/>
          <p:nvPr/>
        </p:nvSpPr>
        <p:spPr>
          <a:xfrm>
            <a:off x="4297680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C59263D-C349-E566-8A43-92ACBB2ADB5E}"/>
              </a:ext>
            </a:extLst>
          </p:cNvPr>
          <p:cNvSpPr/>
          <p:nvPr/>
        </p:nvSpPr>
        <p:spPr>
          <a:xfrm>
            <a:off x="4291585" y="1573861"/>
            <a:ext cx="4430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Annual post-pilot cost                   </a:t>
            </a:r>
            <a:r>
              <a:rPr lang="en-US" sz="20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$41,520*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647123-1409-C5F3-6265-F6A0FEE01247}"/>
              </a:ext>
            </a:extLst>
          </p:cNvPr>
          <p:cNvSpPr/>
          <p:nvPr/>
        </p:nvSpPr>
        <p:spPr>
          <a:xfrm>
            <a:off x="4297680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62308F5-76F6-E27C-8F32-39EEBBA9EE58}"/>
              </a:ext>
            </a:extLst>
          </p:cNvPr>
          <p:cNvSpPr/>
          <p:nvPr/>
        </p:nvSpPr>
        <p:spPr>
          <a:xfrm>
            <a:off x="4297680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99C6A0-7E63-A4B7-5482-F26ECCAAF8A5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CF10585-FFCC-B493-910A-50357B96B05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38128D7-4A12-A012-7410-08A44656DA11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82E94B9-C69C-8696-0D2E-BA6C9019E92E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s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upervised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autonomous ops – 2 shifts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15B3D84-15CB-1E28-BBDE-D665CBA787BE}"/>
              </a:ext>
            </a:extLst>
          </p:cNvPr>
          <p:cNvSpPr/>
          <p:nvPr/>
        </p:nvSpPr>
        <p:spPr>
          <a:xfrm>
            <a:off x="8046720" y="10698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900" dirty="0">
                <a:solidFill>
                  <a:srgbClr val="888888"/>
                </a:solidFill>
                <a:ea typeface="Calibri"/>
                <a:cs typeface="Calibri"/>
              </a:rPr>
              <a:t>1 unit operation - counter-balanced truck</a:t>
            </a:r>
            <a:endParaRPr lang="en-US" sz="900" dirty="0">
              <a:solidFill>
                <a:prstClr val="black"/>
              </a:solidFill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A57E348-F969-756F-68BE-CFC15C63C9E0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4BDDE02-7C7E-C6E8-E34B-1A5053F2AFDE}"/>
              </a:ext>
            </a:extLst>
          </p:cNvPr>
          <p:cNvSpPr/>
          <p:nvPr/>
        </p:nvSpPr>
        <p:spPr>
          <a:xfrm>
            <a:off x="8010144" y="1508760"/>
            <a:ext cx="3621024" cy="502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1A1A1A"/>
                </a:solidFill>
                <a:latin typeface="Calibri"/>
                <a:cs typeface="Calibri"/>
              </a:rPr>
              <a:t>Annual post-pilot cost                      </a:t>
            </a:r>
            <a:r>
              <a:rPr lang="en-US" sz="2000" b="1" dirty="0">
                <a:solidFill>
                  <a:srgbClr val="1A1A1A"/>
                </a:solidFill>
                <a:latin typeface="Calibri"/>
                <a:cs typeface="Calibri"/>
              </a:rPr>
              <a:t>$83,040*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A8F8B5B-0AF3-A4F3-2104-3182EB138393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AEF67D2-325A-FB84-7D8D-16D100463CD8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Pilot Monthly Rate 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EDB5894-A66C-2992-E059-D2EEFFA3D2A0}"/>
              </a:ext>
            </a:extLst>
          </p:cNvPr>
          <p:cNvSpPr/>
          <p:nvPr/>
        </p:nvSpPr>
        <p:spPr>
          <a:xfrm>
            <a:off x="6304605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F76AC53-1D5C-6462-BF51-6560257389E9}"/>
              </a:ext>
            </a:extLst>
          </p:cNvPr>
          <p:cNvSpPr/>
          <p:nvPr/>
        </p:nvSpPr>
        <p:spPr>
          <a:xfrm>
            <a:off x="8046720" y="2176272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Pilot Monthly Rate</a:t>
            </a: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75973D4-A158-1729-9EA0-1B373CD9058A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Calibri"/>
                <a:cs typeface="Calibri"/>
              </a:rPr>
              <a:t>$6,228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54CD316-EF45-38C6-EF83-6EEE1460D592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0AD0A04A-91E5-CC34-C060-08061A0E27F2}"/>
              </a:ext>
            </a:extLst>
          </p:cNvPr>
          <p:cNvSpPr/>
          <p:nvPr/>
        </p:nvSpPr>
        <p:spPr>
          <a:xfrm>
            <a:off x="4297680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E42F245-C9F7-E631-7FA8-AB9937035796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31393A6-BB82-CFC5-352B-141F75CEFD3F}"/>
              </a:ext>
            </a:extLst>
          </p:cNvPr>
          <p:cNvSpPr/>
          <p:nvPr/>
        </p:nvSpPr>
        <p:spPr>
          <a:xfrm>
            <a:off x="4297680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Pilot Hourly Rate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0F34B44-45F8-41AB-83A8-E8A8052A6980}"/>
              </a:ext>
            </a:extLst>
          </p:cNvPr>
          <p:cNvSpPr/>
          <p:nvPr/>
        </p:nvSpPr>
        <p:spPr>
          <a:xfrm>
            <a:off x="6139098" y="248716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$18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BB3E577-DA8F-E01A-D4DD-FD71B19417A1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Pilot Hourly rate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4383F0E-3138-FBBC-C934-F74EF3638DFF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Calibri" pitchFamily="34" charset="0"/>
                <a:cs typeface="Calibri" pitchFamily="34" charset="-120"/>
              </a:rPr>
              <a:t>$18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6DAE721-4FAA-2E2E-353B-FB70AE3612F4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1A1B9576-3D2A-0210-C090-3622DF4C513B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41177A8-EE3B-680E-A0BD-965AE69B6479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BAB2A6A-DFED-B987-6626-61E859458101}"/>
              </a:ext>
            </a:extLst>
          </p:cNvPr>
          <p:cNvSpPr/>
          <p:nvPr/>
        </p:nvSpPr>
        <p:spPr>
          <a:xfrm>
            <a:off x="4297680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63C7477-A796-92AE-801B-EB6915C4A5D8}"/>
              </a:ext>
            </a:extLst>
          </p:cNvPr>
          <p:cNvSpPr/>
          <p:nvPr/>
        </p:nvSpPr>
        <p:spPr>
          <a:xfrm>
            <a:off x="6304605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24508A3-BE68-940E-4BBE-48F5E0954E1E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E2B431E-AA58-5575-829C-E56BEADF7CD3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C8C88053-23CB-DEFA-8DE5-614D998160C8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986F4E7-651A-8BDC-ECE7-3919DFF2C3D0}"/>
              </a:ext>
            </a:extLst>
          </p:cNvPr>
          <p:cNvSpPr/>
          <p:nvPr/>
        </p:nvSpPr>
        <p:spPr>
          <a:xfrm>
            <a:off x="2537277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167E428-8D60-C27F-5CFB-96F9647CBC3E}"/>
              </a:ext>
            </a:extLst>
          </p:cNvPr>
          <p:cNvSpPr/>
          <p:nvPr/>
        </p:nvSpPr>
        <p:spPr>
          <a:xfrm>
            <a:off x="4297680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06635B9-839C-4697-2015-5B4C25F279B2}"/>
              </a:ext>
            </a:extLst>
          </p:cNvPr>
          <p:cNvSpPr/>
          <p:nvPr/>
        </p:nvSpPr>
        <p:spPr>
          <a:xfrm>
            <a:off x="6304605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8791D87-6D57-C6D3-B24C-ED7D2A63A1B7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Pilot Set-up Cost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02F709D-98F5-7C0A-629A-143AC5CED4C1}"/>
              </a:ext>
            </a:extLst>
          </p:cNvPr>
          <p:cNvSpPr/>
          <p:nvPr/>
        </p:nvSpPr>
        <p:spPr>
          <a:xfrm>
            <a:off x="9917582" y="3188754"/>
            <a:ext cx="1530706" cy="203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B11FC0E8-9836-BCA5-60F5-513FD5A56544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A49EC48-B1B2-CD16-D8A8-D7FF351E79C5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12C998A-588E-F4CD-AFBE-6CBB3BC5B989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1491BE36-44C0-A16A-253F-6BBE51AAED36}"/>
              </a:ext>
            </a:extLst>
          </p:cNvPr>
          <p:cNvSpPr/>
          <p:nvPr/>
        </p:nvSpPr>
        <p:spPr>
          <a:xfrm>
            <a:off x="4297680" y="359816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Post-Pilot Rate (36 m. term)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F389987F-E1DF-50E1-D99B-3B6A6B103FEE}"/>
              </a:ext>
            </a:extLst>
          </p:cNvPr>
          <p:cNvSpPr/>
          <p:nvPr/>
        </p:nvSpPr>
        <p:spPr>
          <a:xfrm>
            <a:off x="6257330" y="3569739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5759466F-ACCA-6C30-96A4-590BDF6D0AE4}"/>
              </a:ext>
            </a:extLst>
          </p:cNvPr>
          <p:cNvSpPr/>
          <p:nvPr/>
        </p:nvSpPr>
        <p:spPr>
          <a:xfrm>
            <a:off x="8037576" y="363901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Post-Pilot Rate (36 m. </a:t>
            </a:r>
            <a:r>
              <a:rPr lang="en-US" sz="9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term)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C32A2CF1-CAC5-4400-A727-8B5F1931E9FB}"/>
              </a:ext>
            </a:extLst>
          </p:cNvPr>
          <p:cNvSpPr/>
          <p:nvPr/>
        </p:nvSpPr>
        <p:spPr>
          <a:xfrm>
            <a:off x="9447031" y="3584148"/>
            <a:ext cx="2001257" cy="196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$6,920/month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Calibri"/>
                <a:cs typeface="Calibri"/>
              </a:rPr>
              <a:t>(equivalent to $</a:t>
            </a: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Calibri"/>
                <a:cs typeface="Calibri"/>
              </a:rPr>
              <a:t>20/</a:t>
            </a:r>
            <a:r>
              <a:rPr kumimoji="0" lang="en-US" sz="9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Calibri"/>
                <a:cs typeface="Calibri"/>
              </a:rPr>
              <a:t>hr</a:t>
            </a: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Calibri"/>
                <a:cs typeface="Calibri"/>
              </a:rPr>
              <a:t>)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58B1B935-ED74-6934-8BD5-D59015704007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E9ADBAF3-EE31-7F43-A915-0D539A92F1A6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7B270F9E-EB1B-277F-AFA5-3816F78D21E5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533317DE-F8AD-893A-4288-440DBBCF3984}"/>
              </a:ext>
            </a:extLst>
          </p:cNvPr>
          <p:cNvSpPr/>
          <p:nvPr/>
        </p:nvSpPr>
        <p:spPr>
          <a:xfrm>
            <a:off x="530352" y="3987381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E7E16417-474D-E91F-3EB5-41F594DF94FB}"/>
              </a:ext>
            </a:extLst>
          </p:cNvPr>
          <p:cNvSpPr/>
          <p:nvPr/>
        </p:nvSpPr>
        <p:spPr>
          <a:xfrm>
            <a:off x="2214830" y="4085139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/>
            </a:pPr>
            <a:r>
              <a:rPr lang="en-US" sz="1100" b="1" dirty="0">
                <a:solidFill>
                  <a:srgbClr val="854F0B"/>
                </a:solidFill>
                <a:ea typeface="Calibri"/>
                <a:cs typeface="Calibri"/>
              </a:rPr>
              <a:t>1 shift - $55,000 </a:t>
            </a:r>
          </a:p>
          <a:p>
            <a:pPr lvl="0" algn="r">
              <a:defRPr/>
            </a:pPr>
            <a:endParaRPr lang="en-US" sz="1100" dirty="0">
              <a:solidFill>
                <a:prstClr val="black"/>
              </a:solidFill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0D3C1533-859E-BBAE-A780-B40E077C3DE6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D745137-E72C-95E6-9C70-4E61CDC329D7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54DE6D7D-8F64-B6C1-DDA6-AA3E25C51801}"/>
              </a:ext>
            </a:extLst>
          </p:cNvPr>
          <p:cNvSpPr/>
          <p:nvPr/>
        </p:nvSpPr>
        <p:spPr>
          <a:xfrm>
            <a:off x="9917582" y="3986784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3C3489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433946D4-5BB2-5E39-048A-63C5C4DE12CD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045CFE96-6CA8-1E0D-C17B-C6E462F36C4F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453472B6-0028-3E2A-6563-679364D41951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C612A709-1676-42DD-4C84-FF145CAE6B08}"/>
              </a:ext>
            </a:extLst>
          </p:cNvPr>
          <p:cNvSpPr/>
          <p:nvPr/>
        </p:nvSpPr>
        <p:spPr>
          <a:xfrm>
            <a:off x="7487381" y="3981492"/>
            <a:ext cx="3694176" cy="928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/>
            </a:pPr>
            <a:r>
              <a:rPr lang="en-US" sz="1200" dirty="0"/>
              <a:t>*further discounts subject to volume commitment 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D461D43-D5A6-ABDD-3F8A-63A11CD08E5B}"/>
              </a:ext>
            </a:extLst>
          </p:cNvPr>
          <p:cNvSpPr txBox="1"/>
          <p:nvPr/>
        </p:nvSpPr>
        <p:spPr>
          <a:xfrm>
            <a:off x="2011680" y="4330603"/>
            <a:ext cx="173736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854F0B"/>
                </a:solidFill>
                <a:cs typeface="Calibri"/>
              </a:rPr>
              <a:t>2 shifts - $110,000</a:t>
            </a:r>
          </a:p>
          <a:p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8C6923D-D3CF-1A9A-3542-8F4F6DB3B9AC}"/>
              </a:ext>
            </a:extLst>
          </p:cNvPr>
          <p:cNvSpPr txBox="1"/>
          <p:nvPr/>
        </p:nvSpPr>
        <p:spPr>
          <a:xfrm>
            <a:off x="201168" y="2436537"/>
            <a:ext cx="3566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Hourly rate - $26/</a:t>
            </a:r>
            <a:r>
              <a:rPr lang="en-US" sz="1600" dirty="0" err="1"/>
              <a:t>hr</a:t>
            </a:r>
            <a:r>
              <a:rPr lang="en-US" sz="1600" dirty="0"/>
              <a:t> gross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B3E4D59-669F-3733-1BFC-80512D71C6D2}"/>
              </a:ext>
            </a:extLst>
          </p:cNvPr>
          <p:cNvSpPr txBox="1"/>
          <p:nvPr/>
        </p:nvSpPr>
        <p:spPr>
          <a:xfrm>
            <a:off x="1184224" y="2084720"/>
            <a:ext cx="2930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Monthly rate - $4,583/month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EDDB20-12C1-5651-8FB5-DAC25395C937}"/>
              </a:ext>
            </a:extLst>
          </p:cNvPr>
          <p:cNvSpPr txBox="1"/>
          <p:nvPr/>
        </p:nvSpPr>
        <p:spPr>
          <a:xfrm>
            <a:off x="6722337" y="2044685"/>
            <a:ext cx="895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$3,114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42EE838-5B19-735D-3F70-AC627D10B9F3}"/>
              </a:ext>
            </a:extLst>
          </p:cNvPr>
          <p:cNvSpPr txBox="1"/>
          <p:nvPr/>
        </p:nvSpPr>
        <p:spPr>
          <a:xfrm>
            <a:off x="4221226" y="3155511"/>
            <a:ext cx="1829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Pilot Set-up Cost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D1AA27D-0446-0697-0356-D530E748C530}"/>
              </a:ext>
            </a:extLst>
          </p:cNvPr>
          <p:cNvSpPr txBox="1"/>
          <p:nvPr/>
        </p:nvSpPr>
        <p:spPr>
          <a:xfrm>
            <a:off x="6741135" y="3111742"/>
            <a:ext cx="1117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$10,000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3025DA4-0D63-6655-92D5-215EB08C8949}"/>
              </a:ext>
            </a:extLst>
          </p:cNvPr>
          <p:cNvSpPr txBox="1"/>
          <p:nvPr/>
        </p:nvSpPr>
        <p:spPr>
          <a:xfrm>
            <a:off x="6187197" y="3410712"/>
            <a:ext cx="1841235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$3,460/month </a:t>
            </a:r>
            <a:r>
              <a:rPr lang="en-US" sz="1100" dirty="0"/>
              <a:t>(equivalent to $20/</a:t>
            </a:r>
            <a:r>
              <a:rPr lang="en-US" sz="1100" dirty="0" err="1"/>
              <a:t>hr</a:t>
            </a:r>
            <a:r>
              <a:rPr lang="en-US" sz="1100" dirty="0"/>
              <a:t>)</a:t>
            </a:r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4B159C-AF87-20AD-1371-B817AB6DCAA5}"/>
              </a:ext>
            </a:extLst>
          </p:cNvPr>
          <p:cNvSpPr txBox="1"/>
          <p:nvPr/>
        </p:nvSpPr>
        <p:spPr>
          <a:xfrm>
            <a:off x="4239768" y="4313739"/>
            <a:ext cx="3407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*further discounts subject to volume commitment 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D92BE77-6470-DE87-9CF4-F4FE72817808}"/>
              </a:ext>
            </a:extLst>
          </p:cNvPr>
          <p:cNvSpPr txBox="1"/>
          <p:nvPr/>
        </p:nvSpPr>
        <p:spPr>
          <a:xfrm>
            <a:off x="6564996" y="5136963"/>
            <a:ext cx="258739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RaaS – monthly payment, easy to move into 3</a:t>
            </a:r>
            <a:r>
              <a:rPr lang="en-US" baseline="30000" dirty="0"/>
              <a:t>rd</a:t>
            </a:r>
            <a:r>
              <a:rPr lang="en-US" dirty="0"/>
              <a:t> shift if needed 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0BE1BBB3-F9B4-BC38-5BD8-B3D776B1A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784"/>
            <a:ext cx="1423416" cy="48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98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FE937A-C801-604B-ADF9-97B126AF4B2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86b3e3-dde1-4b64-87c7-bbf19921eb53">
      <Terms xmlns="http://schemas.microsoft.com/office/infopath/2007/PartnerControls"/>
    </lcf76f155ced4ddcb4097134ff3c332f>
    <TaxCatchAll xmlns="88348dcf-761d-4d7d-ac37-190fc1c0f9b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83FAD26115AE4B91D1A86E06B5D138" ma:contentTypeVersion="16" ma:contentTypeDescription="Opprett et nytt dokument." ma:contentTypeScope="" ma:versionID="8fa8736b96f8c6ee529418e5ed9154af">
  <xsd:schema xmlns:xsd="http://www.w3.org/2001/XMLSchema" xmlns:xs="http://www.w3.org/2001/XMLSchema" xmlns:p="http://schemas.microsoft.com/office/2006/metadata/properties" xmlns:ns2="b286b3e3-dde1-4b64-87c7-bbf19921eb53" xmlns:ns3="88348dcf-761d-4d7d-ac37-190fc1c0f9b8" targetNamespace="http://schemas.microsoft.com/office/2006/metadata/properties" ma:root="true" ma:fieldsID="1ec34da4178487d824c31cc5f9cc45b8" ns2:_="" ns3:_="">
    <xsd:import namespace="b286b3e3-dde1-4b64-87c7-bbf19921eb53"/>
    <xsd:import namespace="88348dcf-761d-4d7d-ac37-190fc1c0f9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6b3e3-dde1-4b64-87c7-bbf19921eb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ebf4c788-94a8-4494-a5c7-2bfbed1c09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348dcf-761d-4d7d-ac37-190fc1c0f9b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c33726e-56ce-46df-b468-042181dc8603}" ma:internalName="TaxCatchAll" ma:showField="CatchAllData" ma:web="88348dcf-761d-4d7d-ac37-190fc1c0f9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06BAD7-F26B-4455-99F7-AA15AADF02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85D42-4272-485A-9BF8-1BD8D2CAA93B}">
  <ds:schemaRefs>
    <ds:schemaRef ds:uri="88348dcf-761d-4d7d-ac37-190fc1c0f9b8"/>
    <ds:schemaRef ds:uri="b286b3e3-dde1-4b64-87c7-bbf19921eb5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972F584-E305-434C-870E-849F8AEBF711}">
  <ds:schemaRefs>
    <ds:schemaRef ds:uri="88348dcf-761d-4d7d-ac37-190fc1c0f9b8"/>
    <ds:schemaRef ds:uri="b286b3e3-dde1-4b64-87c7-bbf19921eb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199</Words>
  <Application>Microsoft Macintosh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DHL AMR Commercial Comparison</dc:title>
  <dc:subject>PptxGenJS Presentation</dc:subject>
  <dc:creator>PptxGenJS</dc:creator>
  <cp:lastModifiedBy>Tatiana Kalinina</cp:lastModifiedBy>
  <cp:revision>216</cp:revision>
  <dcterms:created xsi:type="dcterms:W3CDTF">2026-03-30T15:17:29Z</dcterms:created>
  <dcterms:modified xsi:type="dcterms:W3CDTF">2026-05-28T18:45:39Z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0x0101008483FAD26115AE4B91D1A86E06B5D138</vt:lpwstr>
  </property>
  <property fmtid="{D5CDD505-2E9C-101B-9397-08002B2CF9AE}" pid="3" name="MediaServiceImageTags">
    <vt:lpwstr/>
  </property>
</Properties>
</file>